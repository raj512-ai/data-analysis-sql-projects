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6" r:id="rId2"/>
    <p:sldId id="257" r:id="rId3"/>
    <p:sldId id="272" r:id="rId4"/>
    <p:sldId id="271"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A44A5-93E9-43A4-9C53-B0B449418CB6}"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FDEA5-C90B-446F-997B-3B3FBBEB0BCF}" type="slidenum">
              <a:rPr lang="en-IN" smtClean="0"/>
              <a:t>‹#›</a:t>
            </a:fld>
            <a:endParaRPr lang="en-IN"/>
          </a:p>
        </p:txBody>
      </p:sp>
    </p:spTree>
    <p:extLst>
      <p:ext uri="{BB962C8B-B14F-4D97-AF65-F5344CB8AC3E}">
        <p14:creationId xmlns:p14="http://schemas.microsoft.com/office/powerpoint/2010/main" val="394838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420C1-6BFE-2001-4685-CE0F61E326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AEDA65-4326-CF01-8324-ADC1ECE4A1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ACCCA7-3A10-8841-27A0-40BDCD5D8F08}"/>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BCB59E5D-6051-28E9-5C0F-1EB977993F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9B0524-836B-4B7F-9F5A-79C674496B39}"/>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49174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38AE-D0B9-44DA-E192-5BFF3BAD37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9B338F-0EEF-F36A-B676-54A235954B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CE22AD-34ED-1D87-4E5E-E4AD05F7CCF3}"/>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828F9325-1DE3-D3B3-6A2E-25DD53C8C2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17FADC-46F0-5467-E4AA-C2B2EE7DEACD}"/>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1943515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3081-110F-11DE-538A-AC39AAFA8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E7588C-076B-4DD2-8E6C-07452A1CAB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2B6D9-E287-FD41-8A63-EEF86014A20A}"/>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473F63C6-1F46-2115-0541-612C91CC73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BF4D28-1FDB-A5AF-CD7E-EBE7F38EB40B}"/>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721759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B19DE-F8C8-4C55-F866-7DCB1D7725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4C1CE-428B-8BAD-246C-6F89958A6B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EA91F6-C1FE-4344-9D68-82C2D2C91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EF9C3F-7799-B482-A181-8EC18D696298}"/>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6" name="Footer Placeholder 5">
            <a:extLst>
              <a:ext uri="{FF2B5EF4-FFF2-40B4-BE49-F238E27FC236}">
                <a16:creationId xmlns:a16="http://schemas.microsoft.com/office/drawing/2014/main" id="{5ACF1FFA-19EA-FDF4-62CB-3AF1E0F0FC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6ECB9F-E30D-ABD9-142B-16486163D536}"/>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145535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5A38-E210-B04E-8277-9FED719A46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22E46A-F471-D658-0AD5-146CB1D751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9CB93D-1A91-5692-CF32-EF077BC409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2B215B-A564-9761-BB02-C527747BEE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2E631A-5CD7-4BD6-A373-58131E9284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334FD4-6418-E6F3-BF54-8EFB826B8EF8}"/>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8" name="Footer Placeholder 7">
            <a:extLst>
              <a:ext uri="{FF2B5EF4-FFF2-40B4-BE49-F238E27FC236}">
                <a16:creationId xmlns:a16="http://schemas.microsoft.com/office/drawing/2014/main" id="{A34A1210-AEE9-7E46-D925-FD17D1AA34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AECE88-D90A-35EC-B390-725D5B669891}"/>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3631526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214F-5568-86EC-ACDE-406D199FC1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0D940D-AD0C-7C3A-845B-622C9EA806B5}"/>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4" name="Footer Placeholder 3">
            <a:extLst>
              <a:ext uri="{FF2B5EF4-FFF2-40B4-BE49-F238E27FC236}">
                <a16:creationId xmlns:a16="http://schemas.microsoft.com/office/drawing/2014/main" id="{70F18A19-DBE5-BAC5-C374-B1E2C37C1C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389386-9109-84C8-86C7-992AD8C88924}"/>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706348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725AAE-0C8B-C48B-319A-16285907B8DB}"/>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3" name="Footer Placeholder 2">
            <a:extLst>
              <a:ext uri="{FF2B5EF4-FFF2-40B4-BE49-F238E27FC236}">
                <a16:creationId xmlns:a16="http://schemas.microsoft.com/office/drawing/2014/main" id="{C5556A5C-2F48-3C4C-74B3-8AD2A50F52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636640B-9DD5-63A5-AA3C-24D1B723D26A}"/>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619940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C2DD-AB5A-6C28-1C27-99EA4AF07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997598-63C2-A28A-0DD1-8E5C02C345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8ECB90-B57D-66C9-20E2-BA4BE08EB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E2074A-F7BE-3F25-AEEC-FED34721F37E}"/>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6" name="Footer Placeholder 5">
            <a:extLst>
              <a:ext uri="{FF2B5EF4-FFF2-40B4-BE49-F238E27FC236}">
                <a16:creationId xmlns:a16="http://schemas.microsoft.com/office/drawing/2014/main" id="{2483F236-B737-9FCA-AF89-31392E1B4D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FFAECF-EACF-962A-32FE-69A41AB4F443}"/>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659194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4C7E0-9C85-2B37-C42A-1693DB71EE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600082-F35D-69CD-5D1B-50F297D491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B07A9E-FD9A-4779-7E40-9629BBEA12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828EDA-7DE3-8CBE-CAD8-DCC8EBB38A3A}"/>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6" name="Footer Placeholder 5">
            <a:extLst>
              <a:ext uri="{FF2B5EF4-FFF2-40B4-BE49-F238E27FC236}">
                <a16:creationId xmlns:a16="http://schemas.microsoft.com/office/drawing/2014/main" id="{BE789C3F-0818-7C4D-059D-3A8F237F96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8D5ADE-35FA-DA63-E0A6-B76487F6C5AA}"/>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533479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AB22-C34B-3FEC-9AC6-586188F9CF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ADE1CF-0529-E72C-124E-8ADB92E991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5C6FC4-F9A7-E00A-1546-FFFC4AEB943D}"/>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1FB8FBB9-8DC6-1D21-B7B2-6CD4473C8F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648DAE-D4E8-C22C-BE5D-21D5B6A17180}"/>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3034465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075948-2BF6-661F-CB93-2CC6287DBB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9948E2-DFD6-3126-F6A9-4FC9161BB0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9E40CB-8CFB-DB26-4F86-0B40442CDD92}"/>
              </a:ext>
            </a:extLst>
          </p:cNvPr>
          <p:cNvSpPr>
            <a:spLocks noGrp="1"/>
          </p:cNvSpPr>
          <p:nvPr>
            <p:ph type="dt" sz="half" idx="10"/>
          </p:nvPr>
        </p:nvSpPr>
        <p:spPr/>
        <p:txBody>
          <a:body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02EF4E5F-B86E-2C40-0FE2-9850B55EE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460C8B-4AC0-AE90-4FD3-46B18F2FA4B2}"/>
              </a:ext>
            </a:extLst>
          </p:cNvPr>
          <p:cNvSpPr>
            <a:spLocks noGrp="1"/>
          </p:cNvSpPr>
          <p:nvPr>
            <p:ph type="sldNum" sz="quarter" idx="12"/>
          </p:nvPr>
        </p:nvSpPr>
        <p:spPr/>
        <p:txBody>
          <a:bodyPr/>
          <a:lstStyle/>
          <a:p>
            <a:fld id="{28A4FF61-4469-4C73-B475-EABA09924B3A}" type="slidenum">
              <a:rPr lang="en-IN" smtClean="0"/>
              <a:t>‹#›</a:t>
            </a:fld>
            <a:endParaRPr lang="en-IN"/>
          </a:p>
        </p:txBody>
      </p:sp>
    </p:spTree>
    <p:extLst>
      <p:ext uri="{BB962C8B-B14F-4D97-AF65-F5344CB8AC3E}">
        <p14:creationId xmlns:p14="http://schemas.microsoft.com/office/powerpoint/2010/main" val="1995907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147CE9-FEBB-B1FE-9C0B-AD1032C064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C6290D-6203-DAB1-6AD0-38D3A0AAC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2CF110-6F49-5458-C149-B3BDE90B2F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9C5B1-DC83-4B07-BB39-19F9C0F2800D}" type="datetimeFigureOut">
              <a:rPr lang="en-IN" smtClean="0"/>
              <a:t>30-01-2026</a:t>
            </a:fld>
            <a:endParaRPr lang="en-IN"/>
          </a:p>
        </p:txBody>
      </p:sp>
      <p:sp>
        <p:nvSpPr>
          <p:cNvPr id="5" name="Footer Placeholder 4">
            <a:extLst>
              <a:ext uri="{FF2B5EF4-FFF2-40B4-BE49-F238E27FC236}">
                <a16:creationId xmlns:a16="http://schemas.microsoft.com/office/drawing/2014/main" id="{6A071357-12B0-21C3-D32B-896A5271BD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149193-C924-1AC9-C679-8ECA2039A2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A4FF61-4469-4C73-B475-EABA09924B3A}" type="slidenum">
              <a:rPr lang="en-IN" smtClean="0"/>
              <a:t>‹#›</a:t>
            </a:fld>
            <a:endParaRPr lang="en-IN"/>
          </a:p>
        </p:txBody>
      </p:sp>
    </p:spTree>
    <p:extLst>
      <p:ext uri="{BB962C8B-B14F-4D97-AF65-F5344CB8AC3E}">
        <p14:creationId xmlns:p14="http://schemas.microsoft.com/office/powerpoint/2010/main" val="170593893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7.xml"/><Relationship Id="rId5" Type="http://schemas.openxmlformats.org/officeDocument/2006/relationships/image" Target="../media/image20.tmp"/><Relationship Id="rId4" Type="http://schemas.openxmlformats.org/officeDocument/2006/relationships/image" Target="../media/image19.tmp"/></Relationships>
</file>

<file path=ppt/slides/_rels/slide12.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tmp"/></Relationships>
</file>

<file path=ppt/slides/_rels/slide13.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tmp"/></Relationships>
</file>

<file path=ppt/slides/_rels/slide14.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3.tmp"/></Relationships>
</file>

<file path=ppt/slides/_rels/slide17.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image" Target="../media/image34.jpeg"/><Relationship Id="rId1" Type="http://schemas.openxmlformats.org/officeDocument/2006/relationships/slideLayout" Target="../slideLayouts/slideLayout7.xml"/><Relationship Id="rId4" Type="http://schemas.openxmlformats.org/officeDocument/2006/relationships/image" Target="../media/image36.tmp"/></Relationships>
</file>

<file path=ppt/slides/_rels/slide18.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image" Target="../media/image37.tmp"/><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6721BE-1CAF-DB53-D95A-F80EF2511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 y="0"/>
            <a:ext cx="12193432" cy="6858000"/>
          </a:xfrm>
          <a:prstGeom prst="rect">
            <a:avLst/>
          </a:prstGeom>
        </p:spPr>
      </p:pic>
      <p:sp>
        <p:nvSpPr>
          <p:cNvPr id="2" name="Oval 1">
            <a:extLst>
              <a:ext uri="{FF2B5EF4-FFF2-40B4-BE49-F238E27FC236}">
                <a16:creationId xmlns:a16="http://schemas.microsoft.com/office/drawing/2014/main" id="{89DEE374-9494-3F8B-EE6A-3813905B0168}"/>
              </a:ext>
            </a:extLst>
          </p:cNvPr>
          <p:cNvSpPr/>
          <p:nvPr/>
        </p:nvSpPr>
        <p:spPr>
          <a:xfrm>
            <a:off x="744276" y="361506"/>
            <a:ext cx="5124896" cy="2328531"/>
          </a:xfrm>
          <a:prstGeom prst="ellipse">
            <a:avLst/>
          </a:prstGeom>
          <a:ln w="38100">
            <a:solidFill>
              <a:schemeClr val="accent1">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4000" b="1" dirty="0">
                <a:latin typeface="Algerian" panose="04020705040A02060702" pitchFamily="82" charset="0"/>
              </a:rPr>
              <a:t>MY Assignment PROJECT</a:t>
            </a:r>
            <a:endParaRPr lang="en-IN" sz="4000" b="1" dirty="0">
              <a:latin typeface="Algerian" panose="04020705040A02060702" pitchFamily="82" charset="0"/>
            </a:endParaRPr>
          </a:p>
        </p:txBody>
      </p:sp>
      <p:sp>
        <p:nvSpPr>
          <p:cNvPr id="4" name="Rectangle: Rounded Corners 3">
            <a:extLst>
              <a:ext uri="{FF2B5EF4-FFF2-40B4-BE49-F238E27FC236}">
                <a16:creationId xmlns:a16="http://schemas.microsoft.com/office/drawing/2014/main" id="{A240300D-CE3B-CAFC-2BCD-65AE7FFC5C87}"/>
              </a:ext>
            </a:extLst>
          </p:cNvPr>
          <p:cNvSpPr/>
          <p:nvPr/>
        </p:nvSpPr>
        <p:spPr>
          <a:xfrm>
            <a:off x="6422065" y="5720316"/>
            <a:ext cx="4008476" cy="956931"/>
          </a:xfrm>
          <a:prstGeom prst="roundRect">
            <a:avLst/>
          </a:prstGeom>
          <a:noFill/>
          <a:ln>
            <a:noFill/>
          </a:ln>
        </p:spPr>
        <p:style>
          <a:lnRef idx="0">
            <a:scrgbClr r="0" g="0" b="0"/>
          </a:lnRef>
          <a:fillRef idx="0">
            <a:scrgbClr r="0" g="0" b="0"/>
          </a:fillRef>
          <a:effectRef idx="0">
            <a:scrgbClr r="0" g="0" b="0"/>
          </a:effectRef>
          <a:fontRef idx="minor">
            <a:schemeClr val="accent4"/>
          </a:fontRef>
        </p:style>
        <p:txBody>
          <a:bodyPr rtlCol="0" anchor="ctr"/>
          <a:lstStyle/>
          <a:p>
            <a:pPr algn="ctr"/>
            <a:r>
              <a:rPr lang="en-US" sz="3200" dirty="0">
                <a:solidFill>
                  <a:schemeClr val="bg1"/>
                </a:solidFill>
                <a:latin typeface="Forte" panose="03060902040502070203" pitchFamily="66" charset="0"/>
              </a:rPr>
              <a:t>RAJ SEKHAR ROY</a:t>
            </a:r>
            <a:endParaRPr lang="en-IN" sz="3200" dirty="0">
              <a:solidFill>
                <a:schemeClr val="bg1"/>
              </a:solidFill>
              <a:latin typeface="Forte" panose="03060902040502070203" pitchFamily="66" charset="0"/>
            </a:endParaRPr>
          </a:p>
        </p:txBody>
      </p:sp>
    </p:spTree>
    <p:extLst>
      <p:ext uri="{BB962C8B-B14F-4D97-AF65-F5344CB8AC3E}">
        <p14:creationId xmlns:p14="http://schemas.microsoft.com/office/powerpoint/2010/main" val="127989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150956D-B509-70F5-473B-3BDE1B5EB2B7}"/>
              </a:ext>
            </a:extLst>
          </p:cNvPr>
          <p:cNvSpPr/>
          <p:nvPr/>
        </p:nvSpPr>
        <p:spPr>
          <a:xfrm>
            <a:off x="779721" y="2264736"/>
            <a:ext cx="10632558" cy="3848985"/>
          </a:xfrm>
          <a:prstGeom prst="roundRect">
            <a:avLst/>
          </a:prstGeom>
          <a:ln w="57150">
            <a:solidFill>
              <a:srgbClr val="00B0F0"/>
            </a:solidFill>
          </a:ln>
          <a:scene3d>
            <a:camera prst="orthographicFront"/>
            <a:lightRig rig="threePt" dir="t"/>
          </a:scene3d>
          <a:sp3d>
            <a:bevelT w="114300" prst="artDeco"/>
          </a:sp3d>
        </p:spPr>
        <p:style>
          <a:lnRef idx="1">
            <a:schemeClr val="accent4"/>
          </a:lnRef>
          <a:fillRef idx="2">
            <a:schemeClr val="accent4"/>
          </a:fillRef>
          <a:effectRef idx="1">
            <a:schemeClr val="accent4"/>
          </a:effectRef>
          <a:fontRef idx="minor">
            <a:schemeClr val="dk1"/>
          </a:fontRef>
        </p:style>
        <p:txBody>
          <a:bodyPr rtlCol="0" anchor="ctr"/>
          <a:lstStyle/>
          <a:p>
            <a:pPr algn="just"/>
            <a:r>
              <a:rPr lang="en-US" sz="3200" dirty="0">
                <a:latin typeface="Bahnschrift SemiLight Condensed" panose="020B0502040204020203" pitchFamily="34" charset="0"/>
              </a:rPr>
              <a:t>This data is a Retail Store Data. It shows who are the customers and what products they are buy and how they pay. It also shows customer reviews. This Data set has six Tables, they are Customers, Orders, </a:t>
            </a:r>
            <a:r>
              <a:rPr lang="en-US" sz="3200" dirty="0" err="1">
                <a:latin typeface="Bahnschrift SemiLight Condensed" panose="020B0502040204020203" pitchFamily="34" charset="0"/>
              </a:rPr>
              <a:t>Order_items</a:t>
            </a:r>
            <a:r>
              <a:rPr lang="en-US" sz="3200" dirty="0">
                <a:latin typeface="Bahnschrift SemiLight Condensed" panose="020B0502040204020203" pitchFamily="34" charset="0"/>
              </a:rPr>
              <a:t>, Products, Payments and </a:t>
            </a:r>
            <a:r>
              <a:rPr lang="en-US" sz="3200" dirty="0" err="1">
                <a:latin typeface="Bahnschrift SemiLight Condensed" panose="020B0502040204020203" pitchFamily="34" charset="0"/>
              </a:rPr>
              <a:t>Product_Reviews</a:t>
            </a:r>
            <a:r>
              <a:rPr lang="en-US" sz="3200" dirty="0">
                <a:latin typeface="Bahnschrift SemiLight Condensed" panose="020B0502040204020203" pitchFamily="34" charset="0"/>
              </a:rPr>
              <a:t>. Now I am helping what customer love to buy and how the business can improve and make profit higher. </a:t>
            </a:r>
            <a:endParaRPr lang="en-IN" sz="3200" dirty="0">
              <a:latin typeface="Bahnschrift SemiLight Condensed" panose="020B0502040204020203" pitchFamily="34" charset="0"/>
            </a:endParaRPr>
          </a:p>
        </p:txBody>
      </p:sp>
      <p:sp>
        <p:nvSpPr>
          <p:cNvPr id="3" name="Oval 2">
            <a:extLst>
              <a:ext uri="{FF2B5EF4-FFF2-40B4-BE49-F238E27FC236}">
                <a16:creationId xmlns:a16="http://schemas.microsoft.com/office/drawing/2014/main" id="{79724427-4FBD-B568-079D-F1C8E991A35B}"/>
              </a:ext>
            </a:extLst>
          </p:cNvPr>
          <p:cNvSpPr/>
          <p:nvPr/>
        </p:nvSpPr>
        <p:spPr>
          <a:xfrm>
            <a:off x="2257648" y="361506"/>
            <a:ext cx="7783033" cy="1456661"/>
          </a:xfrm>
          <a:prstGeom prst="ellipse">
            <a:avLst/>
          </a:prstGeom>
          <a:solidFill>
            <a:schemeClr val="accent3"/>
          </a:solidFill>
          <a:ln w="57150">
            <a:solidFill>
              <a:srgbClr val="FFFF00"/>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800" b="1" dirty="0">
                <a:latin typeface="Algerian" panose="04020705040A02060702" pitchFamily="82" charset="0"/>
              </a:rPr>
              <a:t>INTRODUCTION</a:t>
            </a:r>
            <a:endParaRPr lang="en-IN" sz="4800" b="1" dirty="0">
              <a:latin typeface="Algerian" panose="04020705040A02060702" pitchFamily="82" charset="0"/>
            </a:endParaRPr>
          </a:p>
        </p:txBody>
      </p:sp>
      <p:pic>
        <p:nvPicPr>
          <p:cNvPr id="9" name="Graphic 8" descr="Bar graph with upward trend with solid fill">
            <a:extLst>
              <a:ext uri="{FF2B5EF4-FFF2-40B4-BE49-F238E27FC236}">
                <a16:creationId xmlns:a16="http://schemas.microsoft.com/office/drawing/2014/main" id="{42B2EDC5-1280-88F5-8130-7A38DEFE27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04473" y="184296"/>
            <a:ext cx="1857155" cy="1857155"/>
          </a:xfrm>
          <a:prstGeom prst="rect">
            <a:avLst/>
          </a:prstGeom>
        </p:spPr>
      </p:pic>
      <p:pic>
        <p:nvPicPr>
          <p:cNvPr id="11" name="Graphic 10" descr="Bar graph with upward trend with solid fill">
            <a:extLst>
              <a:ext uri="{FF2B5EF4-FFF2-40B4-BE49-F238E27FC236}">
                <a16:creationId xmlns:a16="http://schemas.microsoft.com/office/drawing/2014/main" id="{375BE269-260C-D93A-DCB6-C58D98FB4E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371" y="184296"/>
            <a:ext cx="1857155" cy="1857155"/>
          </a:xfrm>
          <a:prstGeom prst="rect">
            <a:avLst/>
          </a:prstGeom>
        </p:spPr>
      </p:pic>
    </p:spTree>
    <p:extLst>
      <p:ext uri="{BB962C8B-B14F-4D97-AF65-F5344CB8AC3E}">
        <p14:creationId xmlns:p14="http://schemas.microsoft.com/office/powerpoint/2010/main" val="765967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a:extLst>
            <a:ext uri="{FF2B5EF4-FFF2-40B4-BE49-F238E27FC236}">
              <a16:creationId xmlns:a16="http://schemas.microsoft.com/office/drawing/2014/main" id="{A74E69D6-7DBF-5C85-8B3E-134444C95381}"/>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5E1260CE-179C-3D39-FC9E-CD274BF3A988}"/>
              </a:ext>
            </a:extLst>
          </p:cNvPr>
          <p:cNvGraphicFramePr>
            <a:graphicFrameLocks noGrp="1"/>
          </p:cNvGraphicFramePr>
          <p:nvPr/>
        </p:nvGraphicFramePr>
        <p:xfrm>
          <a:off x="321280" y="1203960"/>
          <a:ext cx="4754556" cy="2225040"/>
        </p:xfrm>
        <a:graphic>
          <a:graphicData uri="http://schemas.openxmlformats.org/drawingml/2006/table">
            <a:tbl>
              <a:tblPr firstRow="1" bandRow="1">
                <a:tableStyleId>{35758FB7-9AC5-4552-8A53-C91805E547FA}</a:tableStyleId>
              </a:tblPr>
              <a:tblGrid>
                <a:gridCol w="1742558">
                  <a:extLst>
                    <a:ext uri="{9D8B030D-6E8A-4147-A177-3AD203B41FA5}">
                      <a16:colId xmlns:a16="http://schemas.microsoft.com/office/drawing/2014/main" val="2828258776"/>
                    </a:ext>
                  </a:extLst>
                </a:gridCol>
                <a:gridCol w="3011998">
                  <a:extLst>
                    <a:ext uri="{9D8B030D-6E8A-4147-A177-3AD203B41FA5}">
                      <a16:colId xmlns:a16="http://schemas.microsoft.com/office/drawing/2014/main" val="1887719235"/>
                    </a:ext>
                  </a:extLst>
                </a:gridCol>
              </a:tblGrid>
              <a:tr h="370840">
                <a:tc>
                  <a:txBody>
                    <a:bodyPr/>
                    <a:lstStyle/>
                    <a:p>
                      <a:pPr algn="ctr"/>
                      <a:r>
                        <a:rPr lang="en-US" dirty="0"/>
                        <a:t>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1462799013"/>
                  </a:ext>
                </a:extLst>
              </a:tr>
              <a:tr h="370840">
                <a:tc>
                  <a:txBody>
                    <a:bodyPr/>
                    <a:lstStyle/>
                    <a:p>
                      <a:r>
                        <a:rPr lang="en-US" dirty="0"/>
                        <a:t>Customer id</a:t>
                      </a:r>
                      <a:endParaRPr lang="en-IN" dirty="0"/>
                    </a:p>
                  </a:txBody>
                  <a:tcPr/>
                </a:tc>
                <a:tc>
                  <a:txBody>
                    <a:bodyPr/>
                    <a:lstStyle/>
                    <a:p>
                      <a:r>
                        <a:rPr lang="en-US" dirty="0"/>
                        <a:t>Unique id for each customer</a:t>
                      </a:r>
                      <a:endParaRPr lang="en-IN" dirty="0"/>
                    </a:p>
                  </a:txBody>
                  <a:tcPr/>
                </a:tc>
                <a:extLst>
                  <a:ext uri="{0D108BD9-81ED-4DB2-BD59-A6C34878D82A}">
                    <a16:rowId xmlns:a16="http://schemas.microsoft.com/office/drawing/2014/main" val="3344899197"/>
                  </a:ext>
                </a:extLst>
              </a:tr>
              <a:tr h="370840">
                <a:tc>
                  <a:txBody>
                    <a:bodyPr/>
                    <a:lstStyle/>
                    <a:p>
                      <a:r>
                        <a:rPr lang="en-US" dirty="0"/>
                        <a:t>Name</a:t>
                      </a:r>
                      <a:endParaRPr lang="en-IN" dirty="0"/>
                    </a:p>
                  </a:txBody>
                  <a:tcPr/>
                </a:tc>
                <a:tc>
                  <a:txBody>
                    <a:bodyPr/>
                    <a:lstStyle/>
                    <a:p>
                      <a:r>
                        <a:rPr lang="en-US" dirty="0"/>
                        <a:t>Full name of the customer</a:t>
                      </a:r>
                      <a:endParaRPr lang="en-IN" dirty="0"/>
                    </a:p>
                  </a:txBody>
                  <a:tcPr/>
                </a:tc>
                <a:extLst>
                  <a:ext uri="{0D108BD9-81ED-4DB2-BD59-A6C34878D82A}">
                    <a16:rowId xmlns:a16="http://schemas.microsoft.com/office/drawing/2014/main" val="3095072029"/>
                  </a:ext>
                </a:extLst>
              </a:tr>
              <a:tr h="370840">
                <a:tc>
                  <a:txBody>
                    <a:bodyPr/>
                    <a:lstStyle/>
                    <a:p>
                      <a:r>
                        <a:rPr lang="en-US" dirty="0"/>
                        <a:t>Email</a:t>
                      </a:r>
                      <a:endParaRPr lang="en-IN" dirty="0"/>
                    </a:p>
                  </a:txBody>
                  <a:tcPr/>
                </a:tc>
                <a:tc>
                  <a:txBody>
                    <a:bodyPr/>
                    <a:lstStyle/>
                    <a:p>
                      <a:r>
                        <a:rPr lang="en-US" dirty="0"/>
                        <a:t>Unique email address</a:t>
                      </a:r>
                      <a:endParaRPr lang="en-IN" dirty="0"/>
                    </a:p>
                  </a:txBody>
                  <a:tcPr/>
                </a:tc>
                <a:extLst>
                  <a:ext uri="{0D108BD9-81ED-4DB2-BD59-A6C34878D82A}">
                    <a16:rowId xmlns:a16="http://schemas.microsoft.com/office/drawing/2014/main" val="2385399072"/>
                  </a:ext>
                </a:extLst>
              </a:tr>
              <a:tr h="370840">
                <a:tc>
                  <a:txBody>
                    <a:bodyPr/>
                    <a:lstStyle/>
                    <a:p>
                      <a:r>
                        <a:rPr lang="en-US" dirty="0"/>
                        <a:t>Phone</a:t>
                      </a:r>
                      <a:endParaRPr lang="en-IN" dirty="0"/>
                    </a:p>
                  </a:txBody>
                  <a:tcPr/>
                </a:tc>
                <a:tc>
                  <a:txBody>
                    <a:bodyPr/>
                    <a:lstStyle/>
                    <a:p>
                      <a:r>
                        <a:rPr lang="en-US" dirty="0"/>
                        <a:t>Optional phone number</a:t>
                      </a:r>
                      <a:endParaRPr lang="en-IN" dirty="0"/>
                    </a:p>
                  </a:txBody>
                  <a:tcPr/>
                </a:tc>
                <a:extLst>
                  <a:ext uri="{0D108BD9-81ED-4DB2-BD59-A6C34878D82A}">
                    <a16:rowId xmlns:a16="http://schemas.microsoft.com/office/drawing/2014/main" val="118594969"/>
                  </a:ext>
                </a:extLst>
              </a:tr>
              <a:tr h="370840">
                <a:tc>
                  <a:txBody>
                    <a:bodyPr/>
                    <a:lstStyle/>
                    <a:p>
                      <a:r>
                        <a:rPr lang="en-US" dirty="0"/>
                        <a:t>Created at</a:t>
                      </a:r>
                      <a:endParaRPr lang="en-IN" dirty="0"/>
                    </a:p>
                  </a:txBody>
                  <a:tcPr/>
                </a:tc>
                <a:tc>
                  <a:txBody>
                    <a:bodyPr/>
                    <a:lstStyle/>
                    <a:p>
                      <a:r>
                        <a:rPr lang="en-US" dirty="0"/>
                        <a:t>Account creation timestamp</a:t>
                      </a:r>
                      <a:endParaRPr lang="en-IN" dirty="0"/>
                    </a:p>
                  </a:txBody>
                  <a:tcPr/>
                </a:tc>
                <a:extLst>
                  <a:ext uri="{0D108BD9-81ED-4DB2-BD59-A6C34878D82A}">
                    <a16:rowId xmlns:a16="http://schemas.microsoft.com/office/drawing/2014/main" val="2888563585"/>
                  </a:ext>
                </a:extLst>
              </a:tr>
            </a:tbl>
          </a:graphicData>
        </a:graphic>
      </p:graphicFrame>
      <p:graphicFrame>
        <p:nvGraphicFramePr>
          <p:cNvPr id="9" name="Table 8">
            <a:extLst>
              <a:ext uri="{FF2B5EF4-FFF2-40B4-BE49-F238E27FC236}">
                <a16:creationId xmlns:a16="http://schemas.microsoft.com/office/drawing/2014/main" id="{E024948F-3B92-0133-91B8-6B69C343B9A5}"/>
              </a:ext>
            </a:extLst>
          </p:cNvPr>
          <p:cNvGraphicFramePr>
            <a:graphicFrameLocks noGrp="1"/>
          </p:cNvGraphicFramePr>
          <p:nvPr/>
        </p:nvGraphicFramePr>
        <p:xfrm>
          <a:off x="3463029" y="4006801"/>
          <a:ext cx="5121909" cy="2647373"/>
        </p:xfrm>
        <a:graphic>
          <a:graphicData uri="http://schemas.openxmlformats.org/drawingml/2006/table">
            <a:tbl>
              <a:tblPr firstRow="1" bandRow="1">
                <a:tableStyleId>{35758FB7-9AC5-4552-8A53-C91805E547FA}</a:tableStyleId>
              </a:tblPr>
              <a:tblGrid>
                <a:gridCol w="2368076">
                  <a:extLst>
                    <a:ext uri="{9D8B030D-6E8A-4147-A177-3AD203B41FA5}">
                      <a16:colId xmlns:a16="http://schemas.microsoft.com/office/drawing/2014/main" val="1896261486"/>
                    </a:ext>
                  </a:extLst>
                </a:gridCol>
                <a:gridCol w="2753833">
                  <a:extLst>
                    <a:ext uri="{9D8B030D-6E8A-4147-A177-3AD203B41FA5}">
                      <a16:colId xmlns:a16="http://schemas.microsoft.com/office/drawing/2014/main" val="711756236"/>
                    </a:ext>
                  </a:extLst>
                </a:gridCol>
              </a:tblGrid>
              <a:tr h="422333">
                <a:tc>
                  <a:txBody>
                    <a:bodyPr/>
                    <a:lstStyle/>
                    <a:p>
                      <a:pPr algn="ctr"/>
                      <a:r>
                        <a:rPr lang="en-US" dirty="0"/>
                        <a:t>           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7364152"/>
                  </a:ext>
                </a:extLst>
              </a:tr>
              <a:tr h="370840">
                <a:tc>
                  <a:txBody>
                    <a:bodyPr/>
                    <a:lstStyle/>
                    <a:p>
                      <a:r>
                        <a:rPr lang="en-US" dirty="0"/>
                        <a:t>Product id</a:t>
                      </a:r>
                      <a:endParaRPr lang="en-IN" dirty="0"/>
                    </a:p>
                  </a:txBody>
                  <a:tcPr/>
                </a:tc>
                <a:tc>
                  <a:txBody>
                    <a:bodyPr/>
                    <a:lstStyle/>
                    <a:p>
                      <a:r>
                        <a:rPr lang="en-US" dirty="0"/>
                        <a:t>Unique Product id</a:t>
                      </a:r>
                      <a:endParaRPr lang="en-IN" dirty="0"/>
                    </a:p>
                  </a:txBody>
                  <a:tcPr/>
                </a:tc>
                <a:extLst>
                  <a:ext uri="{0D108BD9-81ED-4DB2-BD59-A6C34878D82A}">
                    <a16:rowId xmlns:a16="http://schemas.microsoft.com/office/drawing/2014/main" val="2934379499"/>
                  </a:ext>
                </a:extLst>
              </a:tr>
              <a:tr h="370840">
                <a:tc>
                  <a:txBody>
                    <a:bodyPr/>
                    <a:lstStyle/>
                    <a:p>
                      <a:r>
                        <a:rPr lang="en-US" dirty="0"/>
                        <a:t>Name</a:t>
                      </a:r>
                      <a:endParaRPr lang="en-IN" dirty="0"/>
                    </a:p>
                  </a:txBody>
                  <a:tcPr/>
                </a:tc>
                <a:tc>
                  <a:txBody>
                    <a:bodyPr/>
                    <a:lstStyle/>
                    <a:p>
                      <a:r>
                        <a:rPr lang="en-US" dirty="0"/>
                        <a:t>Name of the product</a:t>
                      </a:r>
                      <a:endParaRPr lang="en-IN" dirty="0"/>
                    </a:p>
                  </a:txBody>
                  <a:tcPr/>
                </a:tc>
                <a:extLst>
                  <a:ext uri="{0D108BD9-81ED-4DB2-BD59-A6C34878D82A}">
                    <a16:rowId xmlns:a16="http://schemas.microsoft.com/office/drawing/2014/main" val="1264309847"/>
                  </a:ext>
                </a:extLst>
              </a:tr>
              <a:tr h="370840">
                <a:tc>
                  <a:txBody>
                    <a:bodyPr/>
                    <a:lstStyle/>
                    <a:p>
                      <a:r>
                        <a:rPr lang="en-US" dirty="0"/>
                        <a:t>Category</a:t>
                      </a:r>
                      <a:endParaRPr lang="en-IN" dirty="0"/>
                    </a:p>
                  </a:txBody>
                  <a:tcPr/>
                </a:tc>
                <a:tc>
                  <a:txBody>
                    <a:bodyPr/>
                    <a:lstStyle/>
                    <a:p>
                      <a:r>
                        <a:rPr lang="en-US" dirty="0"/>
                        <a:t>Product Category</a:t>
                      </a:r>
                      <a:endParaRPr lang="en-IN" dirty="0"/>
                    </a:p>
                  </a:txBody>
                  <a:tcPr/>
                </a:tc>
                <a:extLst>
                  <a:ext uri="{0D108BD9-81ED-4DB2-BD59-A6C34878D82A}">
                    <a16:rowId xmlns:a16="http://schemas.microsoft.com/office/drawing/2014/main" val="3132475609"/>
                  </a:ext>
                </a:extLst>
              </a:tr>
              <a:tr h="370840">
                <a:tc>
                  <a:txBody>
                    <a:bodyPr/>
                    <a:lstStyle/>
                    <a:p>
                      <a:r>
                        <a:rPr lang="en-US" dirty="0"/>
                        <a:t>Price</a:t>
                      </a:r>
                      <a:endParaRPr lang="en-IN" dirty="0"/>
                    </a:p>
                  </a:txBody>
                  <a:tcPr/>
                </a:tc>
                <a:tc>
                  <a:txBody>
                    <a:bodyPr/>
                    <a:lstStyle/>
                    <a:p>
                      <a:r>
                        <a:rPr lang="en-US" dirty="0"/>
                        <a:t>Product Price</a:t>
                      </a:r>
                      <a:endParaRPr lang="en-IN" dirty="0"/>
                    </a:p>
                  </a:txBody>
                  <a:tcPr/>
                </a:tc>
                <a:extLst>
                  <a:ext uri="{0D108BD9-81ED-4DB2-BD59-A6C34878D82A}">
                    <a16:rowId xmlns:a16="http://schemas.microsoft.com/office/drawing/2014/main" val="2000274819"/>
                  </a:ext>
                </a:extLst>
              </a:tr>
              <a:tr h="370840">
                <a:tc>
                  <a:txBody>
                    <a:bodyPr/>
                    <a:lstStyle/>
                    <a:p>
                      <a:r>
                        <a:rPr lang="en-US" dirty="0"/>
                        <a:t>Stock Quantity</a:t>
                      </a:r>
                      <a:endParaRPr lang="en-IN" dirty="0"/>
                    </a:p>
                  </a:txBody>
                  <a:tcPr/>
                </a:tc>
                <a:tc>
                  <a:txBody>
                    <a:bodyPr/>
                    <a:lstStyle/>
                    <a:p>
                      <a:r>
                        <a:rPr lang="en-US" dirty="0"/>
                        <a:t>Units available in stock</a:t>
                      </a:r>
                      <a:endParaRPr lang="en-IN" dirty="0"/>
                    </a:p>
                  </a:txBody>
                  <a:tcPr/>
                </a:tc>
                <a:extLst>
                  <a:ext uri="{0D108BD9-81ED-4DB2-BD59-A6C34878D82A}">
                    <a16:rowId xmlns:a16="http://schemas.microsoft.com/office/drawing/2014/main" val="893408416"/>
                  </a:ext>
                </a:extLst>
              </a:tr>
              <a:tr h="370840">
                <a:tc>
                  <a:txBody>
                    <a:bodyPr/>
                    <a:lstStyle/>
                    <a:p>
                      <a:r>
                        <a:rPr lang="en-US" dirty="0"/>
                        <a:t>Added on</a:t>
                      </a:r>
                      <a:endParaRPr lang="en-IN" dirty="0"/>
                    </a:p>
                  </a:txBody>
                  <a:tcPr/>
                </a:tc>
                <a:tc>
                  <a:txBody>
                    <a:bodyPr/>
                    <a:lstStyle/>
                    <a:p>
                      <a:r>
                        <a:rPr lang="en-US" dirty="0"/>
                        <a:t>Date product was added</a:t>
                      </a:r>
                      <a:endParaRPr lang="en-IN" dirty="0"/>
                    </a:p>
                  </a:txBody>
                  <a:tcPr/>
                </a:tc>
                <a:extLst>
                  <a:ext uri="{0D108BD9-81ED-4DB2-BD59-A6C34878D82A}">
                    <a16:rowId xmlns:a16="http://schemas.microsoft.com/office/drawing/2014/main" val="3599265156"/>
                  </a:ext>
                </a:extLst>
              </a:tr>
            </a:tbl>
          </a:graphicData>
        </a:graphic>
      </p:graphicFrame>
      <p:graphicFrame>
        <p:nvGraphicFramePr>
          <p:cNvPr id="10" name="Table 9">
            <a:extLst>
              <a:ext uri="{FF2B5EF4-FFF2-40B4-BE49-F238E27FC236}">
                <a16:creationId xmlns:a16="http://schemas.microsoft.com/office/drawing/2014/main" id="{0C934EFE-A48F-9C68-912A-70978628298D}"/>
              </a:ext>
            </a:extLst>
          </p:cNvPr>
          <p:cNvGraphicFramePr>
            <a:graphicFrameLocks noGrp="1"/>
          </p:cNvGraphicFramePr>
          <p:nvPr/>
        </p:nvGraphicFramePr>
        <p:xfrm>
          <a:off x="7116166" y="1203960"/>
          <a:ext cx="4754556" cy="2194560"/>
        </p:xfrm>
        <a:graphic>
          <a:graphicData uri="http://schemas.openxmlformats.org/drawingml/2006/table">
            <a:tbl>
              <a:tblPr firstRow="1" bandRow="1">
                <a:tableStyleId>{35758FB7-9AC5-4552-8A53-C91805E547FA}</a:tableStyleId>
              </a:tblPr>
              <a:tblGrid>
                <a:gridCol w="1748812">
                  <a:extLst>
                    <a:ext uri="{9D8B030D-6E8A-4147-A177-3AD203B41FA5}">
                      <a16:colId xmlns:a16="http://schemas.microsoft.com/office/drawing/2014/main" val="2828258776"/>
                    </a:ext>
                  </a:extLst>
                </a:gridCol>
                <a:gridCol w="3005744">
                  <a:extLst>
                    <a:ext uri="{9D8B030D-6E8A-4147-A177-3AD203B41FA5}">
                      <a16:colId xmlns:a16="http://schemas.microsoft.com/office/drawing/2014/main" val="1887719235"/>
                    </a:ext>
                  </a:extLst>
                </a:gridCol>
              </a:tblGrid>
              <a:tr h="324000">
                <a:tc>
                  <a:txBody>
                    <a:bodyPr/>
                    <a:lstStyle/>
                    <a:p>
                      <a:pPr algn="ctr"/>
                      <a:r>
                        <a:rPr lang="en-US" dirty="0"/>
                        <a:t>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1462799013"/>
                  </a:ext>
                </a:extLst>
              </a:tr>
              <a:tr h="324000">
                <a:tc>
                  <a:txBody>
                    <a:bodyPr/>
                    <a:lstStyle/>
                    <a:p>
                      <a:pPr algn="l"/>
                      <a:r>
                        <a:rPr lang="en-US" dirty="0"/>
                        <a:t>Order id</a:t>
                      </a:r>
                      <a:endParaRPr lang="en-IN" dirty="0"/>
                    </a:p>
                  </a:txBody>
                  <a:tcPr/>
                </a:tc>
                <a:tc>
                  <a:txBody>
                    <a:bodyPr/>
                    <a:lstStyle/>
                    <a:p>
                      <a:pPr algn="l"/>
                      <a:r>
                        <a:rPr lang="en-US" dirty="0"/>
                        <a:t>Unique id for each customer</a:t>
                      </a:r>
                      <a:endParaRPr lang="en-IN" dirty="0"/>
                    </a:p>
                  </a:txBody>
                  <a:tcPr/>
                </a:tc>
                <a:extLst>
                  <a:ext uri="{0D108BD9-81ED-4DB2-BD59-A6C34878D82A}">
                    <a16:rowId xmlns:a16="http://schemas.microsoft.com/office/drawing/2014/main" val="3344899197"/>
                  </a:ext>
                </a:extLst>
              </a:tr>
              <a:tr h="360000">
                <a:tc>
                  <a:txBody>
                    <a:bodyPr/>
                    <a:lstStyle/>
                    <a:p>
                      <a:pPr algn="l"/>
                      <a:r>
                        <a:rPr lang="en-US" dirty="0"/>
                        <a:t>Customer id</a:t>
                      </a:r>
                      <a:endParaRPr lang="en-IN" dirty="0"/>
                    </a:p>
                  </a:txBody>
                  <a:tcPr/>
                </a:tc>
                <a:tc>
                  <a:txBody>
                    <a:bodyPr/>
                    <a:lstStyle/>
                    <a:p>
                      <a:pPr algn="l"/>
                      <a:r>
                        <a:rPr lang="en-US" dirty="0"/>
                        <a:t>Full name of the customer</a:t>
                      </a:r>
                      <a:endParaRPr lang="en-IN" dirty="0"/>
                    </a:p>
                  </a:txBody>
                  <a:tcPr/>
                </a:tc>
                <a:extLst>
                  <a:ext uri="{0D108BD9-81ED-4DB2-BD59-A6C34878D82A}">
                    <a16:rowId xmlns:a16="http://schemas.microsoft.com/office/drawing/2014/main" val="3095072029"/>
                  </a:ext>
                </a:extLst>
              </a:tr>
              <a:tr h="360000">
                <a:tc>
                  <a:txBody>
                    <a:bodyPr/>
                    <a:lstStyle/>
                    <a:p>
                      <a:pPr algn="l"/>
                      <a:r>
                        <a:rPr lang="en-US" dirty="0"/>
                        <a:t>Order date</a:t>
                      </a:r>
                      <a:endParaRPr lang="en-IN" dirty="0"/>
                    </a:p>
                  </a:txBody>
                  <a:tcPr/>
                </a:tc>
                <a:tc>
                  <a:txBody>
                    <a:bodyPr/>
                    <a:lstStyle/>
                    <a:p>
                      <a:pPr algn="l"/>
                      <a:r>
                        <a:rPr lang="en-US" dirty="0"/>
                        <a:t>Unique email address</a:t>
                      </a:r>
                      <a:endParaRPr lang="en-IN" dirty="0"/>
                    </a:p>
                  </a:txBody>
                  <a:tcPr/>
                </a:tc>
                <a:extLst>
                  <a:ext uri="{0D108BD9-81ED-4DB2-BD59-A6C34878D82A}">
                    <a16:rowId xmlns:a16="http://schemas.microsoft.com/office/drawing/2014/main" val="2385399072"/>
                  </a:ext>
                </a:extLst>
              </a:tr>
              <a:tr h="360000">
                <a:tc>
                  <a:txBody>
                    <a:bodyPr/>
                    <a:lstStyle/>
                    <a:p>
                      <a:pPr algn="l"/>
                      <a:r>
                        <a:rPr lang="en-US" dirty="0"/>
                        <a:t>Status</a:t>
                      </a:r>
                      <a:endParaRPr lang="en-IN" dirty="0"/>
                    </a:p>
                  </a:txBody>
                  <a:tcPr/>
                </a:tc>
                <a:tc>
                  <a:txBody>
                    <a:bodyPr/>
                    <a:lstStyle/>
                    <a:p>
                      <a:pPr algn="l"/>
                      <a:r>
                        <a:rPr lang="en-US" dirty="0"/>
                        <a:t>Optional phone number</a:t>
                      </a:r>
                      <a:endParaRPr lang="en-IN" dirty="0"/>
                    </a:p>
                  </a:txBody>
                  <a:tcPr/>
                </a:tc>
                <a:extLst>
                  <a:ext uri="{0D108BD9-81ED-4DB2-BD59-A6C34878D82A}">
                    <a16:rowId xmlns:a16="http://schemas.microsoft.com/office/drawing/2014/main" val="118594969"/>
                  </a:ext>
                </a:extLst>
              </a:tr>
              <a:tr h="360000">
                <a:tc>
                  <a:txBody>
                    <a:bodyPr/>
                    <a:lstStyle/>
                    <a:p>
                      <a:pPr algn="l"/>
                      <a:r>
                        <a:rPr lang="en-US" dirty="0"/>
                        <a:t>Total Amount</a:t>
                      </a:r>
                      <a:endParaRPr lang="en-IN" dirty="0"/>
                    </a:p>
                  </a:txBody>
                  <a:tcPr/>
                </a:tc>
                <a:tc>
                  <a:txBody>
                    <a:bodyPr/>
                    <a:lstStyle/>
                    <a:p>
                      <a:pPr algn="l"/>
                      <a:r>
                        <a:rPr lang="en-US" dirty="0"/>
                        <a:t>Account creation timestamp</a:t>
                      </a:r>
                      <a:endParaRPr lang="en-IN" dirty="0"/>
                    </a:p>
                  </a:txBody>
                  <a:tcPr/>
                </a:tc>
                <a:extLst>
                  <a:ext uri="{0D108BD9-81ED-4DB2-BD59-A6C34878D82A}">
                    <a16:rowId xmlns:a16="http://schemas.microsoft.com/office/drawing/2014/main" val="2888563585"/>
                  </a:ext>
                </a:extLst>
              </a:tr>
            </a:tbl>
          </a:graphicData>
        </a:graphic>
      </p:graphicFrame>
      <p:sp>
        <p:nvSpPr>
          <p:cNvPr id="11" name="Rectangle: Rounded Corners 10">
            <a:extLst>
              <a:ext uri="{FF2B5EF4-FFF2-40B4-BE49-F238E27FC236}">
                <a16:creationId xmlns:a16="http://schemas.microsoft.com/office/drawing/2014/main" id="{98E01446-1F4E-FF8C-AF89-7C4EB297CA03}"/>
              </a:ext>
            </a:extLst>
          </p:cNvPr>
          <p:cNvSpPr/>
          <p:nvPr/>
        </p:nvSpPr>
        <p:spPr>
          <a:xfrm>
            <a:off x="97996" y="4006801"/>
            <a:ext cx="3251260" cy="4572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latin typeface="Arial Rounded MT Bold" panose="020F0704030504030204" pitchFamily="34" charset="0"/>
              </a:rPr>
              <a:t>Table name - Customers </a:t>
            </a:r>
            <a:endParaRPr lang="en-IN" sz="2000" dirty="0">
              <a:latin typeface="Arial Rounded MT Bold" panose="020F0704030504030204" pitchFamily="34" charset="0"/>
            </a:endParaRPr>
          </a:p>
        </p:txBody>
      </p:sp>
      <p:sp>
        <p:nvSpPr>
          <p:cNvPr id="12" name="Arrow: Right 11">
            <a:extLst>
              <a:ext uri="{FF2B5EF4-FFF2-40B4-BE49-F238E27FC236}">
                <a16:creationId xmlns:a16="http://schemas.microsoft.com/office/drawing/2014/main" id="{24B7D605-09E4-2444-0C28-1B3E0069232D}"/>
              </a:ext>
            </a:extLst>
          </p:cNvPr>
          <p:cNvSpPr/>
          <p:nvPr/>
        </p:nvSpPr>
        <p:spPr>
          <a:xfrm rot="16200000">
            <a:off x="1351599" y="3584193"/>
            <a:ext cx="380943" cy="363111"/>
          </a:xfrm>
          <a:prstGeom prst="rightArrow">
            <a:avLst/>
          </a:prstGeom>
          <a:solidFill>
            <a:srgbClr val="0070C0"/>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7E1A9224-4951-82A1-0418-6301A466A80F}"/>
              </a:ext>
            </a:extLst>
          </p:cNvPr>
          <p:cNvSpPr/>
          <p:nvPr/>
        </p:nvSpPr>
        <p:spPr>
          <a:xfrm>
            <a:off x="145558" y="5951145"/>
            <a:ext cx="3251260" cy="4572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latin typeface="Arial Rounded MT Bold" panose="020F0704030504030204" pitchFamily="34" charset="0"/>
              </a:rPr>
              <a:t>Table name - Products</a:t>
            </a:r>
            <a:endParaRPr lang="en-IN" sz="2000" dirty="0">
              <a:latin typeface="Arial Rounded MT Bold" panose="020F0704030504030204" pitchFamily="34" charset="0"/>
            </a:endParaRPr>
          </a:p>
        </p:txBody>
      </p:sp>
      <p:sp>
        <p:nvSpPr>
          <p:cNvPr id="14" name="Arrow: Bent 13">
            <a:extLst>
              <a:ext uri="{FF2B5EF4-FFF2-40B4-BE49-F238E27FC236}">
                <a16:creationId xmlns:a16="http://schemas.microsoft.com/office/drawing/2014/main" id="{02FD2BE5-0C5F-0EDC-545D-D19067714FD7}"/>
              </a:ext>
            </a:extLst>
          </p:cNvPr>
          <p:cNvSpPr/>
          <p:nvPr/>
        </p:nvSpPr>
        <p:spPr>
          <a:xfrm>
            <a:off x="2535579" y="5133982"/>
            <a:ext cx="744279" cy="723014"/>
          </a:xfrm>
          <a:prstGeom prst="bentArrow">
            <a:avLst/>
          </a:prstGeom>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Rectangle: Rounded Corners 14">
            <a:extLst>
              <a:ext uri="{FF2B5EF4-FFF2-40B4-BE49-F238E27FC236}">
                <a16:creationId xmlns:a16="http://schemas.microsoft.com/office/drawing/2014/main" id="{4957AF77-2EC9-0372-E944-2BF2A436FB49}"/>
              </a:ext>
            </a:extLst>
          </p:cNvPr>
          <p:cNvSpPr/>
          <p:nvPr/>
        </p:nvSpPr>
        <p:spPr>
          <a:xfrm>
            <a:off x="8768109" y="4013019"/>
            <a:ext cx="3251260" cy="4572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latin typeface="Arial Rounded MT Bold" panose="020F0704030504030204" pitchFamily="34" charset="0"/>
              </a:rPr>
              <a:t>Table name - Orders </a:t>
            </a:r>
            <a:endParaRPr lang="en-IN" sz="2000" dirty="0">
              <a:latin typeface="Arial Rounded MT Bold" panose="020F0704030504030204" pitchFamily="34" charset="0"/>
            </a:endParaRPr>
          </a:p>
        </p:txBody>
      </p:sp>
      <p:sp>
        <p:nvSpPr>
          <p:cNvPr id="16" name="Arrow: Right 15">
            <a:extLst>
              <a:ext uri="{FF2B5EF4-FFF2-40B4-BE49-F238E27FC236}">
                <a16:creationId xmlns:a16="http://schemas.microsoft.com/office/drawing/2014/main" id="{4EBBD1A7-E7A5-49E8-E397-9233F0E6416C}"/>
              </a:ext>
            </a:extLst>
          </p:cNvPr>
          <p:cNvSpPr/>
          <p:nvPr/>
        </p:nvSpPr>
        <p:spPr>
          <a:xfrm rot="16200000">
            <a:off x="10503140" y="3577051"/>
            <a:ext cx="380943" cy="363111"/>
          </a:xfrm>
          <a:prstGeom prst="rightArrow">
            <a:avLst/>
          </a:prstGeom>
          <a:solidFill>
            <a:srgbClr val="0070C0"/>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926D730C-BF89-2085-AF0A-BCB27CD9BAC3}"/>
              </a:ext>
            </a:extLst>
          </p:cNvPr>
          <p:cNvSpPr/>
          <p:nvPr/>
        </p:nvSpPr>
        <p:spPr>
          <a:xfrm>
            <a:off x="3592374" y="163387"/>
            <a:ext cx="5901070" cy="852148"/>
          </a:xfrm>
          <a:prstGeom prst="roundRect">
            <a:avLst/>
          </a:prstGeom>
          <a:solidFill>
            <a:schemeClr val="accent4">
              <a:lumMod val="40000"/>
              <a:lumOff val="60000"/>
            </a:schemeClr>
          </a:solidFill>
          <a:ln w="76200">
            <a:solidFill>
              <a:schemeClr val="tx1">
                <a:lumMod val="95000"/>
                <a:lumOff val="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4000" dirty="0">
                <a:solidFill>
                  <a:srgbClr val="00B0F0"/>
                </a:solidFill>
                <a:latin typeface="Bodoni MT Black" panose="02070A03080606020203" pitchFamily="18" charset="0"/>
              </a:rPr>
              <a:t>TABLE STRUCTURE</a:t>
            </a:r>
            <a:endParaRPr lang="en-IN" sz="4000" dirty="0">
              <a:solidFill>
                <a:srgbClr val="00B0F0"/>
              </a:solidFill>
              <a:latin typeface="Bodoni MT Black" panose="02070A03080606020203" pitchFamily="18" charset="0"/>
            </a:endParaRPr>
          </a:p>
        </p:txBody>
      </p:sp>
      <p:sp>
        <p:nvSpPr>
          <p:cNvPr id="4" name="Thought Bubble: Cloud 3">
            <a:extLst>
              <a:ext uri="{FF2B5EF4-FFF2-40B4-BE49-F238E27FC236}">
                <a16:creationId xmlns:a16="http://schemas.microsoft.com/office/drawing/2014/main" id="{75FC3598-2DF4-3BE7-FD91-955E914A7BC2}"/>
              </a:ext>
            </a:extLst>
          </p:cNvPr>
          <p:cNvSpPr/>
          <p:nvPr/>
        </p:nvSpPr>
        <p:spPr>
          <a:xfrm>
            <a:off x="8819332" y="4563577"/>
            <a:ext cx="3102613" cy="1918562"/>
          </a:xfrm>
          <a:prstGeom prst="cloudCallout">
            <a:avLst/>
          </a:prstGeom>
          <a:solidFill>
            <a:schemeClr val="tx1">
              <a:lumMod val="85000"/>
              <a:lumOff val="15000"/>
            </a:schemeClr>
          </a:solidFill>
          <a:ln w="38100">
            <a:solidFill>
              <a:srgbClr val="00B050"/>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2400" b="1" dirty="0">
                <a:effectLst>
                  <a:outerShdw blurRad="38100" dist="38100" dir="2700000" algn="tl">
                    <a:srgbClr val="000000">
                      <a:alpha val="43137"/>
                    </a:srgbClr>
                  </a:outerShdw>
                </a:effectLst>
                <a:latin typeface="Bell MT" panose="02020503060305020303" pitchFamily="18" charset="0"/>
              </a:rPr>
              <a:t>Other Three Tables are Next Slide</a:t>
            </a:r>
            <a:endParaRPr lang="en-IN" sz="2400" b="1" dirty="0">
              <a:effectLst>
                <a:outerShdw blurRad="38100" dist="38100" dir="2700000" algn="tl">
                  <a:srgbClr val="000000">
                    <a:alpha val="43137"/>
                  </a:srgbClr>
                </a:outerShdw>
              </a:effectLst>
              <a:latin typeface="Bell MT" panose="02020503060305020303" pitchFamily="18" charset="0"/>
            </a:endParaRPr>
          </a:p>
        </p:txBody>
      </p:sp>
    </p:spTree>
    <p:extLst>
      <p:ext uri="{BB962C8B-B14F-4D97-AF65-F5344CB8AC3E}">
        <p14:creationId xmlns:p14="http://schemas.microsoft.com/office/powerpoint/2010/main" val="2767810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3137ADC-FF28-4109-A448-1E410B40D595}"/>
              </a:ext>
            </a:extLst>
          </p:cNvPr>
          <p:cNvGraphicFramePr>
            <a:graphicFrameLocks noGrp="1"/>
          </p:cNvGraphicFramePr>
          <p:nvPr>
            <p:extLst>
              <p:ext uri="{D42A27DB-BD31-4B8C-83A1-F6EECF244321}">
                <p14:modId xmlns:p14="http://schemas.microsoft.com/office/powerpoint/2010/main" val="2864482210"/>
              </p:ext>
            </p:extLst>
          </p:nvPr>
        </p:nvGraphicFramePr>
        <p:xfrm>
          <a:off x="321280" y="1203960"/>
          <a:ext cx="4754556" cy="2225040"/>
        </p:xfrm>
        <a:graphic>
          <a:graphicData uri="http://schemas.openxmlformats.org/drawingml/2006/table">
            <a:tbl>
              <a:tblPr firstRow="1" bandRow="1">
                <a:tableStyleId>{35758FB7-9AC5-4552-8A53-C91805E547FA}</a:tableStyleId>
              </a:tblPr>
              <a:tblGrid>
                <a:gridCol w="1742558">
                  <a:extLst>
                    <a:ext uri="{9D8B030D-6E8A-4147-A177-3AD203B41FA5}">
                      <a16:colId xmlns:a16="http://schemas.microsoft.com/office/drawing/2014/main" val="2828258776"/>
                    </a:ext>
                  </a:extLst>
                </a:gridCol>
                <a:gridCol w="3011998">
                  <a:extLst>
                    <a:ext uri="{9D8B030D-6E8A-4147-A177-3AD203B41FA5}">
                      <a16:colId xmlns:a16="http://schemas.microsoft.com/office/drawing/2014/main" val="1887719235"/>
                    </a:ext>
                  </a:extLst>
                </a:gridCol>
              </a:tblGrid>
              <a:tr h="370840">
                <a:tc>
                  <a:txBody>
                    <a:bodyPr/>
                    <a:lstStyle/>
                    <a:p>
                      <a:pPr algn="ctr"/>
                      <a:r>
                        <a:rPr lang="en-US" dirty="0"/>
                        <a:t>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1462799013"/>
                  </a:ext>
                </a:extLst>
              </a:tr>
              <a:tr h="370840">
                <a:tc>
                  <a:txBody>
                    <a:bodyPr/>
                    <a:lstStyle/>
                    <a:p>
                      <a:r>
                        <a:rPr lang="en-US" dirty="0"/>
                        <a:t>Payment id</a:t>
                      </a:r>
                      <a:endParaRPr lang="en-IN" dirty="0"/>
                    </a:p>
                  </a:txBody>
                  <a:tcPr/>
                </a:tc>
                <a:tc>
                  <a:txBody>
                    <a:bodyPr/>
                    <a:lstStyle/>
                    <a:p>
                      <a:r>
                        <a:rPr lang="en-US" dirty="0"/>
                        <a:t>Unique id for payment</a:t>
                      </a:r>
                      <a:endParaRPr lang="en-IN" dirty="0"/>
                    </a:p>
                  </a:txBody>
                  <a:tcPr/>
                </a:tc>
                <a:extLst>
                  <a:ext uri="{0D108BD9-81ED-4DB2-BD59-A6C34878D82A}">
                    <a16:rowId xmlns:a16="http://schemas.microsoft.com/office/drawing/2014/main" val="3344899197"/>
                  </a:ext>
                </a:extLst>
              </a:tr>
              <a:tr h="370840">
                <a:tc>
                  <a:txBody>
                    <a:bodyPr/>
                    <a:lstStyle/>
                    <a:p>
                      <a:r>
                        <a:rPr lang="en-US" dirty="0"/>
                        <a:t>Order id</a:t>
                      </a:r>
                      <a:endParaRPr lang="en-IN" dirty="0"/>
                    </a:p>
                  </a:txBody>
                  <a:tcPr/>
                </a:tc>
                <a:tc>
                  <a:txBody>
                    <a:bodyPr/>
                    <a:lstStyle/>
                    <a:p>
                      <a:r>
                        <a:rPr lang="en-US" dirty="0"/>
                        <a:t>Which order was paid for</a:t>
                      </a:r>
                      <a:endParaRPr lang="en-IN" dirty="0"/>
                    </a:p>
                  </a:txBody>
                  <a:tcPr/>
                </a:tc>
                <a:extLst>
                  <a:ext uri="{0D108BD9-81ED-4DB2-BD59-A6C34878D82A}">
                    <a16:rowId xmlns:a16="http://schemas.microsoft.com/office/drawing/2014/main" val="3095072029"/>
                  </a:ext>
                </a:extLst>
              </a:tr>
              <a:tr h="370840">
                <a:tc>
                  <a:txBody>
                    <a:bodyPr/>
                    <a:lstStyle/>
                    <a:p>
                      <a:r>
                        <a:rPr lang="en-US" dirty="0"/>
                        <a:t>Payment date</a:t>
                      </a:r>
                      <a:endParaRPr lang="en-IN" dirty="0"/>
                    </a:p>
                  </a:txBody>
                  <a:tcPr/>
                </a:tc>
                <a:tc>
                  <a:txBody>
                    <a:bodyPr/>
                    <a:lstStyle/>
                    <a:p>
                      <a:r>
                        <a:rPr lang="en-US" dirty="0"/>
                        <a:t>When payment was made</a:t>
                      </a:r>
                      <a:endParaRPr lang="en-IN" dirty="0"/>
                    </a:p>
                  </a:txBody>
                  <a:tcPr/>
                </a:tc>
                <a:extLst>
                  <a:ext uri="{0D108BD9-81ED-4DB2-BD59-A6C34878D82A}">
                    <a16:rowId xmlns:a16="http://schemas.microsoft.com/office/drawing/2014/main" val="2385399072"/>
                  </a:ext>
                </a:extLst>
              </a:tr>
              <a:tr h="370840">
                <a:tc>
                  <a:txBody>
                    <a:bodyPr/>
                    <a:lstStyle/>
                    <a:p>
                      <a:r>
                        <a:rPr lang="en-US" dirty="0"/>
                        <a:t>Amount paid</a:t>
                      </a:r>
                      <a:endParaRPr lang="en-IN" dirty="0"/>
                    </a:p>
                  </a:txBody>
                  <a:tcPr/>
                </a:tc>
                <a:tc>
                  <a:txBody>
                    <a:bodyPr/>
                    <a:lstStyle/>
                    <a:p>
                      <a:r>
                        <a:rPr lang="en-US" dirty="0"/>
                        <a:t>Amount paid</a:t>
                      </a:r>
                      <a:endParaRPr lang="en-IN" dirty="0"/>
                    </a:p>
                  </a:txBody>
                  <a:tcPr/>
                </a:tc>
                <a:extLst>
                  <a:ext uri="{0D108BD9-81ED-4DB2-BD59-A6C34878D82A}">
                    <a16:rowId xmlns:a16="http://schemas.microsoft.com/office/drawing/2014/main" val="118594969"/>
                  </a:ext>
                </a:extLst>
              </a:tr>
              <a:tr h="370840">
                <a:tc>
                  <a:txBody>
                    <a:bodyPr/>
                    <a:lstStyle/>
                    <a:p>
                      <a:r>
                        <a:rPr lang="en-US" dirty="0"/>
                        <a:t>Method</a:t>
                      </a:r>
                      <a:endParaRPr lang="en-IN" dirty="0"/>
                    </a:p>
                  </a:txBody>
                  <a:tcPr/>
                </a:tc>
                <a:tc>
                  <a:txBody>
                    <a:bodyPr/>
                    <a:lstStyle/>
                    <a:p>
                      <a:r>
                        <a:rPr lang="en-US" dirty="0"/>
                        <a:t>Method (credit card, </a:t>
                      </a:r>
                      <a:r>
                        <a:rPr lang="en-US" dirty="0" err="1"/>
                        <a:t>upi</a:t>
                      </a:r>
                      <a:r>
                        <a:rPr lang="en-US" dirty="0"/>
                        <a:t> etc.)</a:t>
                      </a:r>
                      <a:endParaRPr lang="en-IN" dirty="0"/>
                    </a:p>
                  </a:txBody>
                  <a:tcPr/>
                </a:tc>
                <a:extLst>
                  <a:ext uri="{0D108BD9-81ED-4DB2-BD59-A6C34878D82A}">
                    <a16:rowId xmlns:a16="http://schemas.microsoft.com/office/drawing/2014/main" val="2888563585"/>
                  </a:ext>
                </a:extLst>
              </a:tr>
            </a:tbl>
          </a:graphicData>
        </a:graphic>
      </p:graphicFrame>
      <p:graphicFrame>
        <p:nvGraphicFramePr>
          <p:cNvPr id="9" name="Table 8">
            <a:extLst>
              <a:ext uri="{FF2B5EF4-FFF2-40B4-BE49-F238E27FC236}">
                <a16:creationId xmlns:a16="http://schemas.microsoft.com/office/drawing/2014/main" id="{64E76476-7043-BB87-1C96-29791E83260F}"/>
              </a:ext>
            </a:extLst>
          </p:cNvPr>
          <p:cNvGraphicFramePr>
            <a:graphicFrameLocks noGrp="1"/>
          </p:cNvGraphicFramePr>
          <p:nvPr>
            <p:extLst>
              <p:ext uri="{D42A27DB-BD31-4B8C-83A1-F6EECF244321}">
                <p14:modId xmlns:p14="http://schemas.microsoft.com/office/powerpoint/2010/main" val="3032399906"/>
              </p:ext>
            </p:extLst>
          </p:nvPr>
        </p:nvGraphicFramePr>
        <p:xfrm>
          <a:off x="3535045" y="3737560"/>
          <a:ext cx="5121909" cy="2916613"/>
        </p:xfrm>
        <a:graphic>
          <a:graphicData uri="http://schemas.openxmlformats.org/drawingml/2006/table">
            <a:tbl>
              <a:tblPr firstRow="1" bandRow="1">
                <a:tableStyleId>{35758FB7-9AC5-4552-8A53-C91805E547FA}</a:tableStyleId>
              </a:tblPr>
              <a:tblGrid>
                <a:gridCol w="2368076">
                  <a:extLst>
                    <a:ext uri="{9D8B030D-6E8A-4147-A177-3AD203B41FA5}">
                      <a16:colId xmlns:a16="http://schemas.microsoft.com/office/drawing/2014/main" val="1896261486"/>
                    </a:ext>
                  </a:extLst>
                </a:gridCol>
                <a:gridCol w="2753833">
                  <a:extLst>
                    <a:ext uri="{9D8B030D-6E8A-4147-A177-3AD203B41FA5}">
                      <a16:colId xmlns:a16="http://schemas.microsoft.com/office/drawing/2014/main" val="711756236"/>
                    </a:ext>
                  </a:extLst>
                </a:gridCol>
              </a:tblGrid>
              <a:tr h="422333">
                <a:tc>
                  <a:txBody>
                    <a:bodyPr/>
                    <a:lstStyle/>
                    <a:p>
                      <a:pPr algn="ctr"/>
                      <a:r>
                        <a:rPr lang="en-US" dirty="0"/>
                        <a:t>           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7364152"/>
                  </a:ext>
                </a:extLst>
              </a:tr>
              <a:tr h="370840">
                <a:tc>
                  <a:txBody>
                    <a:bodyPr/>
                    <a:lstStyle/>
                    <a:p>
                      <a:r>
                        <a:rPr lang="en-US" dirty="0"/>
                        <a:t>Review id</a:t>
                      </a:r>
                      <a:endParaRPr lang="en-IN" dirty="0"/>
                    </a:p>
                  </a:txBody>
                  <a:tcPr/>
                </a:tc>
                <a:tc>
                  <a:txBody>
                    <a:bodyPr/>
                    <a:lstStyle/>
                    <a:p>
                      <a:r>
                        <a:rPr lang="en-US" dirty="0"/>
                        <a:t>Unique id for review</a:t>
                      </a:r>
                      <a:endParaRPr lang="en-IN" dirty="0"/>
                    </a:p>
                  </a:txBody>
                  <a:tcPr/>
                </a:tc>
                <a:extLst>
                  <a:ext uri="{0D108BD9-81ED-4DB2-BD59-A6C34878D82A}">
                    <a16:rowId xmlns:a16="http://schemas.microsoft.com/office/drawing/2014/main" val="2934379499"/>
                  </a:ext>
                </a:extLst>
              </a:tr>
              <a:tr h="370840">
                <a:tc>
                  <a:txBody>
                    <a:bodyPr/>
                    <a:lstStyle/>
                    <a:p>
                      <a:r>
                        <a:rPr lang="en-US" dirty="0"/>
                        <a:t>Product id</a:t>
                      </a:r>
                      <a:endParaRPr lang="en-IN" dirty="0"/>
                    </a:p>
                  </a:txBody>
                  <a:tcPr/>
                </a:tc>
                <a:tc>
                  <a:txBody>
                    <a:bodyPr/>
                    <a:lstStyle/>
                    <a:p>
                      <a:r>
                        <a:rPr lang="en-US" dirty="0"/>
                        <a:t>Which product is reviewed</a:t>
                      </a:r>
                      <a:endParaRPr lang="en-IN" dirty="0"/>
                    </a:p>
                  </a:txBody>
                  <a:tcPr/>
                </a:tc>
                <a:extLst>
                  <a:ext uri="{0D108BD9-81ED-4DB2-BD59-A6C34878D82A}">
                    <a16:rowId xmlns:a16="http://schemas.microsoft.com/office/drawing/2014/main" val="1264309847"/>
                  </a:ext>
                </a:extLst>
              </a:tr>
              <a:tr h="370840">
                <a:tc>
                  <a:txBody>
                    <a:bodyPr/>
                    <a:lstStyle/>
                    <a:p>
                      <a:r>
                        <a:rPr lang="en-US" dirty="0"/>
                        <a:t>Customer id</a:t>
                      </a:r>
                      <a:endParaRPr lang="en-IN" dirty="0"/>
                    </a:p>
                  </a:txBody>
                  <a:tcPr/>
                </a:tc>
                <a:tc>
                  <a:txBody>
                    <a:bodyPr/>
                    <a:lstStyle/>
                    <a:p>
                      <a:r>
                        <a:rPr lang="en-US" dirty="0"/>
                        <a:t>Who gave the review</a:t>
                      </a:r>
                      <a:endParaRPr lang="en-IN" dirty="0"/>
                    </a:p>
                  </a:txBody>
                  <a:tcPr/>
                </a:tc>
                <a:extLst>
                  <a:ext uri="{0D108BD9-81ED-4DB2-BD59-A6C34878D82A}">
                    <a16:rowId xmlns:a16="http://schemas.microsoft.com/office/drawing/2014/main" val="3132475609"/>
                  </a:ext>
                </a:extLst>
              </a:tr>
              <a:tr h="370840">
                <a:tc>
                  <a:txBody>
                    <a:bodyPr/>
                    <a:lstStyle/>
                    <a:p>
                      <a:r>
                        <a:rPr lang="en-US" dirty="0"/>
                        <a:t>Rating</a:t>
                      </a:r>
                      <a:endParaRPr lang="en-IN" dirty="0"/>
                    </a:p>
                  </a:txBody>
                  <a:tcPr/>
                </a:tc>
                <a:tc>
                  <a:txBody>
                    <a:bodyPr/>
                    <a:lstStyle/>
                    <a:p>
                      <a:r>
                        <a:rPr lang="en-US" dirty="0"/>
                        <a:t>Star rating</a:t>
                      </a:r>
                      <a:endParaRPr lang="en-IN" dirty="0"/>
                    </a:p>
                  </a:txBody>
                  <a:tcPr/>
                </a:tc>
                <a:extLst>
                  <a:ext uri="{0D108BD9-81ED-4DB2-BD59-A6C34878D82A}">
                    <a16:rowId xmlns:a16="http://schemas.microsoft.com/office/drawing/2014/main" val="2000274819"/>
                  </a:ext>
                </a:extLst>
              </a:tr>
              <a:tr h="370840">
                <a:tc>
                  <a:txBody>
                    <a:bodyPr/>
                    <a:lstStyle/>
                    <a:p>
                      <a:r>
                        <a:rPr lang="en-US" dirty="0"/>
                        <a:t>Review text</a:t>
                      </a:r>
                      <a:endParaRPr lang="en-IN" dirty="0"/>
                    </a:p>
                  </a:txBody>
                  <a:tcPr/>
                </a:tc>
                <a:tc>
                  <a:txBody>
                    <a:bodyPr/>
                    <a:lstStyle/>
                    <a:p>
                      <a:r>
                        <a:rPr lang="en-US" dirty="0"/>
                        <a:t>Review message</a:t>
                      </a:r>
                      <a:endParaRPr lang="en-IN" dirty="0"/>
                    </a:p>
                  </a:txBody>
                  <a:tcPr/>
                </a:tc>
                <a:extLst>
                  <a:ext uri="{0D108BD9-81ED-4DB2-BD59-A6C34878D82A}">
                    <a16:rowId xmlns:a16="http://schemas.microsoft.com/office/drawing/2014/main" val="893408416"/>
                  </a:ext>
                </a:extLst>
              </a:tr>
              <a:tr h="370840">
                <a:tc>
                  <a:txBody>
                    <a:bodyPr/>
                    <a:lstStyle/>
                    <a:p>
                      <a:r>
                        <a:rPr lang="en-US" dirty="0"/>
                        <a:t>Review date</a:t>
                      </a:r>
                      <a:endParaRPr lang="en-IN" dirty="0"/>
                    </a:p>
                  </a:txBody>
                  <a:tcPr/>
                </a:tc>
                <a:tc>
                  <a:txBody>
                    <a:bodyPr/>
                    <a:lstStyle/>
                    <a:p>
                      <a:r>
                        <a:rPr lang="en-US" dirty="0"/>
                        <a:t>When the review was posted</a:t>
                      </a:r>
                      <a:endParaRPr lang="en-IN" dirty="0"/>
                    </a:p>
                  </a:txBody>
                  <a:tcPr/>
                </a:tc>
                <a:extLst>
                  <a:ext uri="{0D108BD9-81ED-4DB2-BD59-A6C34878D82A}">
                    <a16:rowId xmlns:a16="http://schemas.microsoft.com/office/drawing/2014/main" val="3599265156"/>
                  </a:ext>
                </a:extLst>
              </a:tr>
            </a:tbl>
          </a:graphicData>
        </a:graphic>
      </p:graphicFrame>
      <p:graphicFrame>
        <p:nvGraphicFramePr>
          <p:cNvPr id="10" name="Table 9">
            <a:extLst>
              <a:ext uri="{FF2B5EF4-FFF2-40B4-BE49-F238E27FC236}">
                <a16:creationId xmlns:a16="http://schemas.microsoft.com/office/drawing/2014/main" id="{8ED735C0-9570-BEF7-D4F5-19A640F7E3BC}"/>
              </a:ext>
            </a:extLst>
          </p:cNvPr>
          <p:cNvGraphicFramePr>
            <a:graphicFrameLocks noGrp="1"/>
          </p:cNvGraphicFramePr>
          <p:nvPr>
            <p:extLst>
              <p:ext uri="{D42A27DB-BD31-4B8C-83A1-F6EECF244321}">
                <p14:modId xmlns:p14="http://schemas.microsoft.com/office/powerpoint/2010/main" val="2213710231"/>
              </p:ext>
            </p:extLst>
          </p:nvPr>
        </p:nvGraphicFramePr>
        <p:xfrm>
          <a:off x="6629400" y="1203960"/>
          <a:ext cx="5389969" cy="2194560"/>
        </p:xfrm>
        <a:graphic>
          <a:graphicData uri="http://schemas.openxmlformats.org/drawingml/2006/table">
            <a:tbl>
              <a:tblPr firstRow="1" bandRow="1">
                <a:tableStyleId>{35758FB7-9AC5-4552-8A53-C91805E547FA}</a:tableStyleId>
              </a:tblPr>
              <a:tblGrid>
                <a:gridCol w="1982528">
                  <a:extLst>
                    <a:ext uri="{9D8B030D-6E8A-4147-A177-3AD203B41FA5}">
                      <a16:colId xmlns:a16="http://schemas.microsoft.com/office/drawing/2014/main" val="2828258776"/>
                    </a:ext>
                  </a:extLst>
                </a:gridCol>
                <a:gridCol w="3407441">
                  <a:extLst>
                    <a:ext uri="{9D8B030D-6E8A-4147-A177-3AD203B41FA5}">
                      <a16:colId xmlns:a16="http://schemas.microsoft.com/office/drawing/2014/main" val="1887719235"/>
                    </a:ext>
                  </a:extLst>
                </a:gridCol>
              </a:tblGrid>
              <a:tr h="324000">
                <a:tc>
                  <a:txBody>
                    <a:bodyPr/>
                    <a:lstStyle/>
                    <a:p>
                      <a:pPr algn="ctr"/>
                      <a:r>
                        <a:rPr lang="en-US" dirty="0"/>
                        <a:t>COLUMN NAME</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1462799013"/>
                  </a:ext>
                </a:extLst>
              </a:tr>
              <a:tr h="324000">
                <a:tc>
                  <a:txBody>
                    <a:bodyPr/>
                    <a:lstStyle/>
                    <a:p>
                      <a:pPr algn="l"/>
                      <a:r>
                        <a:rPr lang="en-US" dirty="0"/>
                        <a:t>Order item id</a:t>
                      </a:r>
                      <a:endParaRPr lang="en-IN" dirty="0"/>
                    </a:p>
                  </a:txBody>
                  <a:tcPr/>
                </a:tc>
                <a:tc>
                  <a:txBody>
                    <a:bodyPr/>
                    <a:lstStyle/>
                    <a:p>
                      <a:pPr algn="l"/>
                      <a:r>
                        <a:rPr lang="en-US" dirty="0"/>
                        <a:t>Unique id for each line item</a:t>
                      </a:r>
                      <a:endParaRPr lang="en-IN" dirty="0"/>
                    </a:p>
                  </a:txBody>
                  <a:tcPr/>
                </a:tc>
                <a:extLst>
                  <a:ext uri="{0D108BD9-81ED-4DB2-BD59-A6C34878D82A}">
                    <a16:rowId xmlns:a16="http://schemas.microsoft.com/office/drawing/2014/main" val="3344899197"/>
                  </a:ext>
                </a:extLst>
              </a:tr>
              <a:tr h="360000">
                <a:tc>
                  <a:txBody>
                    <a:bodyPr/>
                    <a:lstStyle/>
                    <a:p>
                      <a:pPr algn="l"/>
                      <a:r>
                        <a:rPr lang="en-US" dirty="0"/>
                        <a:t>Order id</a:t>
                      </a:r>
                      <a:endParaRPr lang="en-IN" dirty="0"/>
                    </a:p>
                  </a:txBody>
                  <a:tcPr/>
                </a:tc>
                <a:tc>
                  <a:txBody>
                    <a:bodyPr/>
                    <a:lstStyle/>
                    <a:p>
                      <a:pPr algn="l"/>
                      <a:r>
                        <a:rPr lang="en-US" dirty="0"/>
                        <a:t>Order to which item belongs</a:t>
                      </a:r>
                      <a:endParaRPr lang="en-IN" dirty="0"/>
                    </a:p>
                  </a:txBody>
                  <a:tcPr/>
                </a:tc>
                <a:extLst>
                  <a:ext uri="{0D108BD9-81ED-4DB2-BD59-A6C34878D82A}">
                    <a16:rowId xmlns:a16="http://schemas.microsoft.com/office/drawing/2014/main" val="3095072029"/>
                  </a:ext>
                </a:extLst>
              </a:tr>
              <a:tr h="360000">
                <a:tc>
                  <a:txBody>
                    <a:bodyPr/>
                    <a:lstStyle/>
                    <a:p>
                      <a:pPr algn="l"/>
                      <a:r>
                        <a:rPr lang="en-US" dirty="0"/>
                        <a:t>Product id</a:t>
                      </a:r>
                      <a:endParaRPr lang="en-IN" dirty="0"/>
                    </a:p>
                  </a:txBody>
                  <a:tcPr/>
                </a:tc>
                <a:tc>
                  <a:txBody>
                    <a:bodyPr/>
                    <a:lstStyle/>
                    <a:p>
                      <a:pPr algn="l"/>
                      <a:r>
                        <a:rPr lang="en-US" dirty="0"/>
                        <a:t>Which product was bought</a:t>
                      </a:r>
                      <a:endParaRPr lang="en-IN" dirty="0"/>
                    </a:p>
                  </a:txBody>
                  <a:tcPr/>
                </a:tc>
                <a:extLst>
                  <a:ext uri="{0D108BD9-81ED-4DB2-BD59-A6C34878D82A}">
                    <a16:rowId xmlns:a16="http://schemas.microsoft.com/office/drawing/2014/main" val="2385399072"/>
                  </a:ext>
                </a:extLst>
              </a:tr>
              <a:tr h="360000">
                <a:tc>
                  <a:txBody>
                    <a:bodyPr/>
                    <a:lstStyle/>
                    <a:p>
                      <a:pPr algn="l"/>
                      <a:r>
                        <a:rPr lang="en-US" dirty="0"/>
                        <a:t>Quantity</a:t>
                      </a:r>
                      <a:endParaRPr lang="en-IN" dirty="0"/>
                    </a:p>
                  </a:txBody>
                  <a:tcPr/>
                </a:tc>
                <a:tc>
                  <a:txBody>
                    <a:bodyPr/>
                    <a:lstStyle/>
                    <a:p>
                      <a:pPr algn="l"/>
                      <a:r>
                        <a:rPr lang="en-US" dirty="0"/>
                        <a:t>Quantity ordered</a:t>
                      </a:r>
                      <a:endParaRPr lang="en-IN" dirty="0"/>
                    </a:p>
                  </a:txBody>
                  <a:tcPr/>
                </a:tc>
                <a:extLst>
                  <a:ext uri="{0D108BD9-81ED-4DB2-BD59-A6C34878D82A}">
                    <a16:rowId xmlns:a16="http://schemas.microsoft.com/office/drawing/2014/main" val="118594969"/>
                  </a:ext>
                </a:extLst>
              </a:tr>
              <a:tr h="360000">
                <a:tc>
                  <a:txBody>
                    <a:bodyPr/>
                    <a:lstStyle/>
                    <a:p>
                      <a:pPr algn="l"/>
                      <a:r>
                        <a:rPr lang="en-US" dirty="0"/>
                        <a:t>Item price</a:t>
                      </a:r>
                      <a:endParaRPr lang="en-IN" dirty="0"/>
                    </a:p>
                  </a:txBody>
                  <a:tcPr/>
                </a:tc>
                <a:tc>
                  <a:txBody>
                    <a:bodyPr/>
                    <a:lstStyle/>
                    <a:p>
                      <a:pPr algn="l"/>
                      <a:r>
                        <a:rPr lang="en-US" dirty="0"/>
                        <a:t>Snapshot of product price at order</a:t>
                      </a:r>
                      <a:endParaRPr lang="en-IN" dirty="0"/>
                    </a:p>
                  </a:txBody>
                  <a:tcPr/>
                </a:tc>
                <a:extLst>
                  <a:ext uri="{0D108BD9-81ED-4DB2-BD59-A6C34878D82A}">
                    <a16:rowId xmlns:a16="http://schemas.microsoft.com/office/drawing/2014/main" val="2888563585"/>
                  </a:ext>
                </a:extLst>
              </a:tr>
            </a:tbl>
          </a:graphicData>
        </a:graphic>
      </p:graphicFrame>
      <p:sp>
        <p:nvSpPr>
          <p:cNvPr id="11" name="Rectangle: Rounded Corners 10">
            <a:extLst>
              <a:ext uri="{FF2B5EF4-FFF2-40B4-BE49-F238E27FC236}">
                <a16:creationId xmlns:a16="http://schemas.microsoft.com/office/drawing/2014/main" id="{B6983181-75B6-7EA2-1883-9494EA2CB7AA}"/>
              </a:ext>
            </a:extLst>
          </p:cNvPr>
          <p:cNvSpPr/>
          <p:nvPr/>
        </p:nvSpPr>
        <p:spPr>
          <a:xfrm>
            <a:off x="97996" y="4006801"/>
            <a:ext cx="3251260" cy="4572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latin typeface="Arial Rounded MT Bold" panose="020F0704030504030204" pitchFamily="34" charset="0"/>
              </a:rPr>
              <a:t>Table name - Payments </a:t>
            </a:r>
            <a:endParaRPr lang="en-IN" sz="2000" dirty="0">
              <a:latin typeface="Arial Rounded MT Bold" panose="020F0704030504030204" pitchFamily="34" charset="0"/>
            </a:endParaRPr>
          </a:p>
        </p:txBody>
      </p:sp>
      <p:sp>
        <p:nvSpPr>
          <p:cNvPr id="12" name="Arrow: Right 11">
            <a:extLst>
              <a:ext uri="{FF2B5EF4-FFF2-40B4-BE49-F238E27FC236}">
                <a16:creationId xmlns:a16="http://schemas.microsoft.com/office/drawing/2014/main" id="{15630828-21EF-0320-7980-9801CA3013C3}"/>
              </a:ext>
            </a:extLst>
          </p:cNvPr>
          <p:cNvSpPr/>
          <p:nvPr/>
        </p:nvSpPr>
        <p:spPr>
          <a:xfrm rot="16200000">
            <a:off x="1351599" y="3558793"/>
            <a:ext cx="380943" cy="363111"/>
          </a:xfrm>
          <a:prstGeom prst="rightArrow">
            <a:avLst/>
          </a:prstGeom>
          <a:solidFill>
            <a:srgbClr val="0070C0"/>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8C7F09F6-A880-9624-AC85-CC5EB7054B5E}"/>
              </a:ext>
            </a:extLst>
          </p:cNvPr>
          <p:cNvSpPr/>
          <p:nvPr/>
        </p:nvSpPr>
        <p:spPr>
          <a:xfrm>
            <a:off x="145558" y="5951144"/>
            <a:ext cx="3251260" cy="703029"/>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dirty="0">
                <a:latin typeface="Arial Rounded MT Bold" panose="020F0704030504030204" pitchFamily="34" charset="0"/>
              </a:rPr>
              <a:t>Table name – Product Reviews</a:t>
            </a:r>
            <a:endParaRPr lang="en-IN" sz="2000" dirty="0">
              <a:latin typeface="Arial Rounded MT Bold" panose="020F0704030504030204" pitchFamily="34" charset="0"/>
            </a:endParaRPr>
          </a:p>
        </p:txBody>
      </p:sp>
      <p:sp>
        <p:nvSpPr>
          <p:cNvPr id="14" name="Arrow: Bent 13">
            <a:extLst>
              <a:ext uri="{FF2B5EF4-FFF2-40B4-BE49-F238E27FC236}">
                <a16:creationId xmlns:a16="http://schemas.microsoft.com/office/drawing/2014/main" id="{2274C5E7-EDAC-4808-58A3-0B56F943D85B}"/>
              </a:ext>
            </a:extLst>
          </p:cNvPr>
          <p:cNvSpPr/>
          <p:nvPr/>
        </p:nvSpPr>
        <p:spPr>
          <a:xfrm>
            <a:off x="2535579" y="5133982"/>
            <a:ext cx="744279" cy="723014"/>
          </a:xfrm>
          <a:prstGeom prst="bentArrow">
            <a:avLst/>
          </a:prstGeom>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Rectangle: Rounded Corners 14">
            <a:extLst>
              <a:ext uri="{FF2B5EF4-FFF2-40B4-BE49-F238E27FC236}">
                <a16:creationId xmlns:a16="http://schemas.microsoft.com/office/drawing/2014/main" id="{2F7D1215-006D-1CBA-A889-445B2BA26949}"/>
              </a:ext>
            </a:extLst>
          </p:cNvPr>
          <p:cNvSpPr/>
          <p:nvPr/>
        </p:nvSpPr>
        <p:spPr>
          <a:xfrm>
            <a:off x="8768109" y="4013019"/>
            <a:ext cx="3251260" cy="4572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w="28575"/>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latin typeface="Arial Rounded MT Bold" panose="020F0704030504030204" pitchFamily="34" charset="0"/>
              </a:rPr>
              <a:t>Table name – Order Items </a:t>
            </a:r>
            <a:endParaRPr lang="en-IN" dirty="0">
              <a:latin typeface="Arial Rounded MT Bold" panose="020F0704030504030204" pitchFamily="34" charset="0"/>
            </a:endParaRPr>
          </a:p>
        </p:txBody>
      </p:sp>
      <p:sp>
        <p:nvSpPr>
          <p:cNvPr id="16" name="Arrow: Right 15">
            <a:extLst>
              <a:ext uri="{FF2B5EF4-FFF2-40B4-BE49-F238E27FC236}">
                <a16:creationId xmlns:a16="http://schemas.microsoft.com/office/drawing/2014/main" id="{84A561F7-630A-CC5B-7BFD-B7DCAB0D2B2D}"/>
              </a:ext>
            </a:extLst>
          </p:cNvPr>
          <p:cNvSpPr/>
          <p:nvPr/>
        </p:nvSpPr>
        <p:spPr>
          <a:xfrm rot="16200000">
            <a:off x="10503140" y="3577051"/>
            <a:ext cx="380943" cy="363111"/>
          </a:xfrm>
          <a:prstGeom prst="rightArrow">
            <a:avLst/>
          </a:prstGeom>
          <a:solidFill>
            <a:srgbClr val="0070C0"/>
          </a:solid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D3E86987-C72D-FEAE-384D-67BA34ABEAE6}"/>
              </a:ext>
            </a:extLst>
          </p:cNvPr>
          <p:cNvSpPr/>
          <p:nvPr/>
        </p:nvSpPr>
        <p:spPr>
          <a:xfrm>
            <a:off x="3592374" y="163387"/>
            <a:ext cx="5901070" cy="852148"/>
          </a:xfrm>
          <a:prstGeom prst="roundRect">
            <a:avLst/>
          </a:prstGeom>
          <a:solidFill>
            <a:schemeClr val="accent4">
              <a:lumMod val="40000"/>
              <a:lumOff val="60000"/>
            </a:schemeClr>
          </a:solidFill>
          <a:ln w="76200">
            <a:solidFill>
              <a:schemeClr val="tx1">
                <a:lumMod val="95000"/>
                <a:lumOff val="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4000" dirty="0">
                <a:solidFill>
                  <a:srgbClr val="00B0F0"/>
                </a:solidFill>
                <a:latin typeface="Bodoni MT Black" panose="02070A03080606020203" pitchFamily="18" charset="0"/>
              </a:rPr>
              <a:t>TABLE STRUCTURE</a:t>
            </a:r>
            <a:endParaRPr lang="en-IN" sz="4000" dirty="0">
              <a:solidFill>
                <a:srgbClr val="00B0F0"/>
              </a:solidFill>
              <a:latin typeface="Bodoni MT Black" panose="02070A03080606020203" pitchFamily="18" charset="0"/>
            </a:endParaRPr>
          </a:p>
        </p:txBody>
      </p:sp>
    </p:spTree>
    <p:extLst>
      <p:ext uri="{BB962C8B-B14F-4D97-AF65-F5344CB8AC3E}">
        <p14:creationId xmlns:p14="http://schemas.microsoft.com/office/powerpoint/2010/main" val="112789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445489-4480-562E-92E7-BF3CFBDA0E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556" y="1218157"/>
            <a:ext cx="8592674" cy="5416559"/>
          </a:xfrm>
          <a:prstGeom prst="round2DiagRect">
            <a:avLst>
              <a:gd name="adj1" fmla="val 16667"/>
              <a:gd name="adj2" fmla="val 0"/>
            </a:avLst>
          </a:prstGeom>
          <a:ln w="88900" cap="sq">
            <a:solidFill>
              <a:srgbClr val="00B0F0"/>
            </a:solidFill>
            <a:miter lim="800000"/>
          </a:ln>
          <a:effectLst>
            <a:outerShdw blurRad="254000" algn="tl" rotWithShape="0">
              <a:srgbClr val="000000">
                <a:alpha val="43000"/>
              </a:srgbClr>
            </a:outerShdw>
          </a:effectLst>
        </p:spPr>
      </p:pic>
      <p:sp>
        <p:nvSpPr>
          <p:cNvPr id="2" name="Rectangle: Rounded Corners 1">
            <a:extLst>
              <a:ext uri="{FF2B5EF4-FFF2-40B4-BE49-F238E27FC236}">
                <a16:creationId xmlns:a16="http://schemas.microsoft.com/office/drawing/2014/main" id="{F16B2D0A-CA90-FF3D-117C-82CDCB1C58DC}"/>
              </a:ext>
            </a:extLst>
          </p:cNvPr>
          <p:cNvSpPr/>
          <p:nvPr/>
        </p:nvSpPr>
        <p:spPr>
          <a:xfrm>
            <a:off x="3125972" y="223284"/>
            <a:ext cx="6283842" cy="57415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dirty="0">
                <a:latin typeface="Arial Black" panose="020B0A04020102020204" pitchFamily="34" charset="0"/>
              </a:rPr>
              <a:t>ER DIAGRAM FOR THIS DATA SET</a:t>
            </a:r>
            <a:endParaRPr lang="en-IN" sz="2400" dirty="0">
              <a:latin typeface="Arial Black" panose="020B0A04020102020204" pitchFamily="34" charset="0"/>
            </a:endParaRPr>
          </a:p>
        </p:txBody>
      </p:sp>
    </p:spTree>
    <p:extLst>
      <p:ext uri="{BB962C8B-B14F-4D97-AF65-F5344CB8AC3E}">
        <p14:creationId xmlns:p14="http://schemas.microsoft.com/office/powerpoint/2010/main" val="1244722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A0934B8-8652-234F-2B55-38EF3DAF49E2}"/>
              </a:ext>
            </a:extLst>
          </p:cNvPr>
          <p:cNvSpPr/>
          <p:nvPr/>
        </p:nvSpPr>
        <p:spPr>
          <a:xfrm>
            <a:off x="627321" y="297712"/>
            <a:ext cx="6283841" cy="606055"/>
          </a:xfrm>
          <a:prstGeom prst="roundRect">
            <a:avLst>
              <a:gd name="adj" fmla="val 50000"/>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b="1" dirty="0"/>
              <a:t> Retrieve customer names and emails for email marketing </a:t>
            </a:r>
            <a:endParaRPr lang="en-IN" dirty="0"/>
          </a:p>
        </p:txBody>
      </p:sp>
      <p:sp>
        <p:nvSpPr>
          <p:cNvPr id="3" name="Arrow: Right 2">
            <a:extLst>
              <a:ext uri="{FF2B5EF4-FFF2-40B4-BE49-F238E27FC236}">
                <a16:creationId xmlns:a16="http://schemas.microsoft.com/office/drawing/2014/main" id="{2B18D685-2021-75BA-7791-ECD817DCF105}"/>
              </a:ext>
            </a:extLst>
          </p:cNvPr>
          <p:cNvSpPr/>
          <p:nvPr/>
        </p:nvSpPr>
        <p:spPr>
          <a:xfrm rot="10800000">
            <a:off x="7293938" y="382771"/>
            <a:ext cx="765544" cy="3880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F67FAA8F-5CFD-23F3-EA98-D211599ED3AC}"/>
              </a:ext>
            </a:extLst>
          </p:cNvPr>
          <p:cNvSpPr/>
          <p:nvPr/>
        </p:nvSpPr>
        <p:spPr>
          <a:xfrm>
            <a:off x="8282763" y="297710"/>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pic>
        <p:nvPicPr>
          <p:cNvPr id="6" name="Picture 5">
            <a:extLst>
              <a:ext uri="{FF2B5EF4-FFF2-40B4-BE49-F238E27FC236}">
                <a16:creationId xmlns:a16="http://schemas.microsoft.com/office/drawing/2014/main" id="{8822ACF7-781D-385D-AEF9-89E16E273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320" y="1416780"/>
            <a:ext cx="6283841" cy="606055"/>
          </a:xfrm>
          <a:prstGeom prst="rect">
            <a:avLst/>
          </a:prstGeom>
          <a:ln w="38100">
            <a:solidFill>
              <a:srgbClr val="92D050"/>
            </a:solidFill>
          </a:ln>
          <a:effectLst>
            <a:outerShdw blurRad="190500" algn="tl" rotWithShape="0">
              <a:srgbClr val="000000">
                <a:alpha val="70000"/>
              </a:srgbClr>
            </a:outerShdw>
          </a:effectLst>
        </p:spPr>
      </p:pic>
      <p:sp>
        <p:nvSpPr>
          <p:cNvPr id="7" name="Rectangle: Rounded Corners 6">
            <a:extLst>
              <a:ext uri="{FF2B5EF4-FFF2-40B4-BE49-F238E27FC236}">
                <a16:creationId xmlns:a16="http://schemas.microsoft.com/office/drawing/2014/main" id="{2E026C2C-984D-B253-A0BE-9900E5CB0687}"/>
              </a:ext>
            </a:extLst>
          </p:cNvPr>
          <p:cNvSpPr/>
          <p:nvPr/>
        </p:nvSpPr>
        <p:spPr>
          <a:xfrm>
            <a:off x="971107" y="3010676"/>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8" name="Arrow: Right 7">
            <a:extLst>
              <a:ext uri="{FF2B5EF4-FFF2-40B4-BE49-F238E27FC236}">
                <a16:creationId xmlns:a16="http://schemas.microsoft.com/office/drawing/2014/main" id="{8294D1F3-FE68-5546-1273-E0D60F9A0BB9}"/>
              </a:ext>
            </a:extLst>
          </p:cNvPr>
          <p:cNvSpPr/>
          <p:nvPr/>
        </p:nvSpPr>
        <p:spPr>
          <a:xfrm rot="16200000">
            <a:off x="1628558" y="2352647"/>
            <a:ext cx="606055" cy="326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0D87B338-6C7F-8A9A-E431-08525E3B9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1440" y="3204746"/>
            <a:ext cx="7311774" cy="3355542"/>
          </a:xfrm>
          <a:prstGeom prst="rect">
            <a:avLst/>
          </a:prstGeom>
          <a:solidFill>
            <a:srgbClr val="FFFFFF">
              <a:shade val="85000"/>
            </a:srgbClr>
          </a:solidFill>
          <a:ln w="190500" cap="sq">
            <a:solidFill>
              <a:schemeClr val="accent3">
                <a:lumMod val="20000"/>
                <a:lumOff val="8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Rectangle: Rounded Corners 10">
            <a:extLst>
              <a:ext uri="{FF2B5EF4-FFF2-40B4-BE49-F238E27FC236}">
                <a16:creationId xmlns:a16="http://schemas.microsoft.com/office/drawing/2014/main" id="{E422DF0E-C21C-2FF3-9D93-142F2825D424}"/>
              </a:ext>
            </a:extLst>
          </p:cNvPr>
          <p:cNvSpPr/>
          <p:nvPr/>
        </p:nvSpPr>
        <p:spPr>
          <a:xfrm>
            <a:off x="8545032" y="1721879"/>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2" name="Arrow: Right 11">
            <a:extLst>
              <a:ext uri="{FF2B5EF4-FFF2-40B4-BE49-F238E27FC236}">
                <a16:creationId xmlns:a16="http://schemas.microsoft.com/office/drawing/2014/main" id="{A75572B0-2A9F-FCD9-9B17-1DAA5EAF3243}"/>
              </a:ext>
            </a:extLst>
          </p:cNvPr>
          <p:cNvSpPr/>
          <p:nvPr/>
        </p:nvSpPr>
        <p:spPr>
          <a:xfrm rot="5400000">
            <a:off x="9510823" y="2498276"/>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F12AF1A6-C906-8318-9A84-8E4DE8EA37E7}"/>
              </a:ext>
            </a:extLst>
          </p:cNvPr>
          <p:cNvSpPr/>
          <p:nvPr/>
        </p:nvSpPr>
        <p:spPr>
          <a:xfrm>
            <a:off x="2016642" y="3901211"/>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9" name="Rectangle: Rounded Corners 8">
            <a:extLst>
              <a:ext uri="{FF2B5EF4-FFF2-40B4-BE49-F238E27FC236}">
                <a16:creationId xmlns:a16="http://schemas.microsoft.com/office/drawing/2014/main" id="{5060806B-9E6F-9427-AC96-28733C0F1793}"/>
              </a:ext>
            </a:extLst>
          </p:cNvPr>
          <p:cNvSpPr/>
          <p:nvPr/>
        </p:nvSpPr>
        <p:spPr>
          <a:xfrm>
            <a:off x="185956" y="5159264"/>
            <a:ext cx="3921755" cy="1577208"/>
          </a:xfrm>
          <a:prstGeom prst="roundRect">
            <a:avLst/>
          </a:prstGeom>
          <a:ln w="38100">
            <a:solidFill>
              <a:srgbClr val="FFFF00"/>
            </a:solidFill>
          </a:ln>
          <a:effectLst>
            <a:glow rad="101600">
              <a:schemeClr val="accent2">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b="1" dirty="0">
                <a:latin typeface="Arial Narrow" panose="020B0606020202030204" pitchFamily="34" charset="0"/>
              </a:rPr>
              <a:t>This helps the marketing team extract basic customer contact details. </a:t>
            </a:r>
            <a:endParaRPr lang="en-IN" sz="2400" b="1" dirty="0">
              <a:latin typeface="Arial Narrow" panose="020B0606020202030204" pitchFamily="34" charset="0"/>
            </a:endParaRPr>
          </a:p>
        </p:txBody>
      </p:sp>
      <p:sp>
        <p:nvSpPr>
          <p:cNvPr id="13" name="Arrow: Right 12">
            <a:extLst>
              <a:ext uri="{FF2B5EF4-FFF2-40B4-BE49-F238E27FC236}">
                <a16:creationId xmlns:a16="http://schemas.microsoft.com/office/drawing/2014/main" id="{ED244D5D-5980-F672-1472-4EC51EEBAE6D}"/>
              </a:ext>
            </a:extLst>
          </p:cNvPr>
          <p:cNvSpPr/>
          <p:nvPr/>
        </p:nvSpPr>
        <p:spPr>
          <a:xfrm rot="5400000">
            <a:off x="2826687" y="4626942"/>
            <a:ext cx="470979" cy="3721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4660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40">
          <a:fgClr>
            <a:srgbClr val="00B0F0"/>
          </a:fgClr>
          <a:bgClr>
            <a:schemeClr val="bg1"/>
          </a:bgClr>
        </a:patt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808A2A0-9F1B-1FC7-477E-60FD931C938E}"/>
              </a:ext>
            </a:extLst>
          </p:cNvPr>
          <p:cNvSpPr/>
          <p:nvPr/>
        </p:nvSpPr>
        <p:spPr>
          <a:xfrm>
            <a:off x="627321" y="297712"/>
            <a:ext cx="6911163" cy="606055"/>
          </a:xfrm>
          <a:prstGeom prst="roundRect">
            <a:avLst>
              <a:gd name="adj" fmla="val 50000"/>
            </a:avLst>
          </a:prstGeom>
          <a:solidFill>
            <a:schemeClr val="accent6">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 Display products within a mid-range price bracket (₹2,000 to ₹5,000)</a:t>
            </a:r>
            <a:endParaRPr lang="en-IN" dirty="0"/>
          </a:p>
        </p:txBody>
      </p:sp>
      <p:sp>
        <p:nvSpPr>
          <p:cNvPr id="3" name="Rectangle: Rounded Corners 2">
            <a:extLst>
              <a:ext uri="{FF2B5EF4-FFF2-40B4-BE49-F238E27FC236}">
                <a16:creationId xmlns:a16="http://schemas.microsoft.com/office/drawing/2014/main" id="{2C30D1D0-FAC7-5900-4378-4DC9B90DBEE9}"/>
              </a:ext>
            </a:extLst>
          </p:cNvPr>
          <p:cNvSpPr/>
          <p:nvPr/>
        </p:nvSpPr>
        <p:spPr>
          <a:xfrm>
            <a:off x="8676168" y="297711"/>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4" name="Arrow: Right 3">
            <a:extLst>
              <a:ext uri="{FF2B5EF4-FFF2-40B4-BE49-F238E27FC236}">
                <a16:creationId xmlns:a16="http://schemas.microsoft.com/office/drawing/2014/main" id="{1578E4E2-8204-25D1-DE82-EA7E5835D657}"/>
              </a:ext>
            </a:extLst>
          </p:cNvPr>
          <p:cNvSpPr/>
          <p:nvPr/>
        </p:nvSpPr>
        <p:spPr>
          <a:xfrm rot="10800000">
            <a:off x="7931892" y="377454"/>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F33C43C4-CE21-834E-BDF5-CC52873B7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628" y="1466843"/>
            <a:ext cx="7123813" cy="425752"/>
          </a:xfrm>
          <a:prstGeom prst="rect">
            <a:avLst/>
          </a:prstGeom>
          <a:solidFill>
            <a:srgbClr val="FFFFFF">
              <a:shade val="85000"/>
            </a:srgbClr>
          </a:solidFill>
          <a:ln w="88900" cap="sq">
            <a:solidFill>
              <a:schemeClr val="bg2">
                <a:lumMod val="9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Rounded Corners 7">
            <a:extLst>
              <a:ext uri="{FF2B5EF4-FFF2-40B4-BE49-F238E27FC236}">
                <a16:creationId xmlns:a16="http://schemas.microsoft.com/office/drawing/2014/main" id="{5CFC9077-AD5A-477B-1094-1FF62B95DBCF}"/>
              </a:ext>
            </a:extLst>
          </p:cNvPr>
          <p:cNvSpPr/>
          <p:nvPr/>
        </p:nvSpPr>
        <p:spPr>
          <a:xfrm>
            <a:off x="987055" y="2744872"/>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9" name="Arrow: Right 8">
            <a:extLst>
              <a:ext uri="{FF2B5EF4-FFF2-40B4-BE49-F238E27FC236}">
                <a16:creationId xmlns:a16="http://schemas.microsoft.com/office/drawing/2014/main" id="{30003A21-97B0-3850-7C2C-ED2D7F43712B}"/>
              </a:ext>
            </a:extLst>
          </p:cNvPr>
          <p:cNvSpPr/>
          <p:nvPr/>
        </p:nvSpPr>
        <p:spPr>
          <a:xfrm rot="16200000">
            <a:off x="1648046" y="2116716"/>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22964213-AC21-A240-38D8-C451C43DA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29000"/>
            <a:ext cx="5589181" cy="3051546"/>
          </a:xfrm>
          <a:prstGeom prst="rect">
            <a:avLst/>
          </a:prstGeom>
          <a:solidFill>
            <a:srgbClr val="FFFFFF">
              <a:shade val="85000"/>
            </a:srgbClr>
          </a:solidFill>
          <a:ln w="190500" cap="rnd">
            <a:solidFill>
              <a:schemeClr val="accent4">
                <a:lumMod val="20000"/>
                <a:lumOff val="8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2" name="Rectangle: Rounded Corners 11">
            <a:extLst>
              <a:ext uri="{FF2B5EF4-FFF2-40B4-BE49-F238E27FC236}">
                <a16:creationId xmlns:a16="http://schemas.microsoft.com/office/drawing/2014/main" id="{CD7B51DD-3C46-52BE-E3C6-550B610651EC}"/>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3" name="Arrow: Right 12">
            <a:extLst>
              <a:ext uri="{FF2B5EF4-FFF2-40B4-BE49-F238E27FC236}">
                <a16:creationId xmlns:a16="http://schemas.microsoft.com/office/drawing/2014/main" id="{AF59267C-B130-2F41-312B-38088EC6C948}"/>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9D50666B-5B4C-7F4E-DF9C-E0533F08177F}"/>
              </a:ext>
            </a:extLst>
          </p:cNvPr>
          <p:cNvSpPr/>
          <p:nvPr/>
        </p:nvSpPr>
        <p:spPr>
          <a:xfrm>
            <a:off x="1499191" y="4965406"/>
            <a:ext cx="3921755" cy="1263546"/>
          </a:xfrm>
          <a:prstGeom prst="roundRect">
            <a:avLst/>
          </a:prstGeom>
          <a:ln w="38100">
            <a:solidFill>
              <a:srgbClr val="7030A0"/>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a:latin typeface="Bahnschrift Condensed" panose="020B0502040204020203" pitchFamily="34" charset="0"/>
              </a:rPr>
              <a:t>It helps to create a mid-tier pricing campaign</a:t>
            </a:r>
            <a:r>
              <a:rPr lang="en-US" dirty="0"/>
              <a:t>. </a:t>
            </a:r>
            <a:endParaRPr lang="en-IN" sz="2400" b="1" dirty="0">
              <a:latin typeface="Arial Narrow" panose="020B0606020202030204" pitchFamily="34" charset="0"/>
            </a:endParaRPr>
          </a:p>
        </p:txBody>
      </p:sp>
      <p:sp>
        <p:nvSpPr>
          <p:cNvPr id="15" name="Rectangle: Rounded Corners 14">
            <a:extLst>
              <a:ext uri="{FF2B5EF4-FFF2-40B4-BE49-F238E27FC236}">
                <a16:creationId xmlns:a16="http://schemas.microsoft.com/office/drawing/2014/main" id="{5FB5D20B-72EA-11C3-703A-94C594030EA3}"/>
              </a:ext>
            </a:extLst>
          </p:cNvPr>
          <p:cNvSpPr/>
          <p:nvPr/>
        </p:nvSpPr>
        <p:spPr>
          <a:xfrm>
            <a:off x="3329876" y="3631018"/>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6" name="Arrow: Right 15">
            <a:extLst>
              <a:ext uri="{FF2B5EF4-FFF2-40B4-BE49-F238E27FC236}">
                <a16:creationId xmlns:a16="http://schemas.microsoft.com/office/drawing/2014/main" id="{7D9E5830-3AC7-55C0-339A-99C31F18AFB2}"/>
              </a:ext>
            </a:extLst>
          </p:cNvPr>
          <p:cNvSpPr/>
          <p:nvPr/>
        </p:nvSpPr>
        <p:spPr>
          <a:xfrm rot="5400000">
            <a:off x="4157331" y="4369982"/>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89068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37B13D32-B29A-A87D-8311-909B33A3655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18B5BF5-FA9B-A51E-D9E1-59AA13D6EED4}"/>
              </a:ext>
            </a:extLst>
          </p:cNvPr>
          <p:cNvSpPr/>
          <p:nvPr/>
        </p:nvSpPr>
        <p:spPr>
          <a:xfrm>
            <a:off x="827567" y="271128"/>
            <a:ext cx="6966104" cy="606055"/>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t>Display product names and prices in descending order of price </a:t>
            </a:r>
            <a:endParaRPr lang="en-IN" sz="2000" dirty="0"/>
          </a:p>
        </p:txBody>
      </p:sp>
      <p:sp>
        <p:nvSpPr>
          <p:cNvPr id="3" name="Rectangle: Rounded Corners 2">
            <a:extLst>
              <a:ext uri="{FF2B5EF4-FFF2-40B4-BE49-F238E27FC236}">
                <a16:creationId xmlns:a16="http://schemas.microsoft.com/office/drawing/2014/main" id="{94DC5628-198A-0373-38E2-9E62BBDBAC45}"/>
              </a:ext>
            </a:extLst>
          </p:cNvPr>
          <p:cNvSpPr/>
          <p:nvPr/>
        </p:nvSpPr>
        <p:spPr>
          <a:xfrm>
            <a:off x="8676168" y="297711"/>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4" name="Arrow: Right 3">
            <a:extLst>
              <a:ext uri="{FF2B5EF4-FFF2-40B4-BE49-F238E27FC236}">
                <a16:creationId xmlns:a16="http://schemas.microsoft.com/office/drawing/2014/main" id="{B921AFE9-2831-8B42-B8AE-B19C0282155B}"/>
              </a:ext>
            </a:extLst>
          </p:cNvPr>
          <p:cNvSpPr/>
          <p:nvPr/>
        </p:nvSpPr>
        <p:spPr>
          <a:xfrm rot="10800000">
            <a:off x="7931892" y="377454"/>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ECD630B5-52C0-0FAB-4E4C-9FDDD7CC01B2}"/>
              </a:ext>
            </a:extLst>
          </p:cNvPr>
          <p:cNvSpPr/>
          <p:nvPr/>
        </p:nvSpPr>
        <p:spPr>
          <a:xfrm>
            <a:off x="987055" y="2744872"/>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9" name="Arrow: Right 8">
            <a:extLst>
              <a:ext uri="{FF2B5EF4-FFF2-40B4-BE49-F238E27FC236}">
                <a16:creationId xmlns:a16="http://schemas.microsoft.com/office/drawing/2014/main" id="{CD4D7747-8587-113E-87C1-5863D0396363}"/>
              </a:ext>
            </a:extLst>
          </p:cNvPr>
          <p:cNvSpPr/>
          <p:nvPr/>
        </p:nvSpPr>
        <p:spPr>
          <a:xfrm rot="16200000">
            <a:off x="1648046" y="2116716"/>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15C7448E-36BE-E0E7-FE2B-6AC229958AE9}"/>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3" name="Arrow: Right 12">
            <a:extLst>
              <a:ext uri="{FF2B5EF4-FFF2-40B4-BE49-F238E27FC236}">
                <a16:creationId xmlns:a16="http://schemas.microsoft.com/office/drawing/2014/main" id="{E7AC03C8-A441-25FE-7A8E-1036375D79D0}"/>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12574A75-6E37-4D36-87BB-28C038E431E9}"/>
              </a:ext>
            </a:extLst>
          </p:cNvPr>
          <p:cNvSpPr/>
          <p:nvPr/>
        </p:nvSpPr>
        <p:spPr>
          <a:xfrm>
            <a:off x="1499191" y="4965406"/>
            <a:ext cx="3921755" cy="1263546"/>
          </a:xfrm>
          <a:prstGeom prst="roundRect">
            <a:avLst/>
          </a:prstGeom>
          <a:solidFill>
            <a:schemeClr val="accent2">
              <a:lumMod val="20000"/>
              <a:lumOff val="8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latin typeface="Bahnschrift SemiBold" panose="020B0502040204020203" pitchFamily="34" charset="0"/>
              </a:rPr>
              <a:t>This helps teams easily view and compare top-priced items. </a:t>
            </a:r>
            <a:endParaRPr lang="en-IN" sz="2000" b="1" dirty="0">
              <a:latin typeface="Bahnschrift SemiBold" panose="020B0502040204020203" pitchFamily="34" charset="0"/>
            </a:endParaRPr>
          </a:p>
        </p:txBody>
      </p:sp>
      <p:sp>
        <p:nvSpPr>
          <p:cNvPr id="15" name="Rectangle: Rounded Corners 14">
            <a:extLst>
              <a:ext uri="{FF2B5EF4-FFF2-40B4-BE49-F238E27FC236}">
                <a16:creationId xmlns:a16="http://schemas.microsoft.com/office/drawing/2014/main" id="{B75555DD-4825-9D47-F758-CD212A86C4F8}"/>
              </a:ext>
            </a:extLst>
          </p:cNvPr>
          <p:cNvSpPr/>
          <p:nvPr/>
        </p:nvSpPr>
        <p:spPr>
          <a:xfrm>
            <a:off x="3329876" y="3631018"/>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6" name="Arrow: Right 15">
            <a:extLst>
              <a:ext uri="{FF2B5EF4-FFF2-40B4-BE49-F238E27FC236}">
                <a16:creationId xmlns:a16="http://schemas.microsoft.com/office/drawing/2014/main" id="{44A3CE61-1214-EFB5-17B5-5734B9CED5BF}"/>
              </a:ext>
            </a:extLst>
          </p:cNvPr>
          <p:cNvSpPr/>
          <p:nvPr/>
        </p:nvSpPr>
        <p:spPr>
          <a:xfrm rot="5400000">
            <a:off x="4157331" y="4369982"/>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DBFD904-68C9-B31B-B940-10065D38E1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49" y="1363811"/>
            <a:ext cx="7302922" cy="48341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7" name="Picture 16">
            <a:extLst>
              <a:ext uri="{FF2B5EF4-FFF2-40B4-BE49-F238E27FC236}">
                <a16:creationId xmlns:a16="http://schemas.microsoft.com/office/drawing/2014/main" id="{7B6C1FAE-B014-D64B-DF05-98A2E5DA74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3292050"/>
            <a:ext cx="4642884" cy="3395829"/>
          </a:xfrm>
          <a:prstGeom prst="rect">
            <a:avLst/>
          </a:prstGeom>
          <a:solidFill>
            <a:srgbClr val="FFFFFF">
              <a:shade val="85000"/>
            </a:srgbClr>
          </a:solidFill>
          <a:ln w="38100" cap="rnd">
            <a:solidFill>
              <a:schemeClr val="accent5">
                <a:lumMod val="60000"/>
                <a:lumOff val="4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7539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0" scaled="1"/>
          <a:tileRect/>
        </a:gradFill>
        <a:effectLst/>
      </p:bgPr>
    </p:bg>
    <p:spTree>
      <p:nvGrpSpPr>
        <p:cNvPr id="1" name="">
          <a:extLst>
            <a:ext uri="{FF2B5EF4-FFF2-40B4-BE49-F238E27FC236}">
              <a16:creationId xmlns:a16="http://schemas.microsoft.com/office/drawing/2014/main" id="{AC8C8485-0478-4994-6786-F708248C1AA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D4AFD9B-04B0-D981-7748-772C574A81C7}"/>
              </a:ext>
            </a:extLst>
          </p:cNvPr>
          <p:cNvSpPr/>
          <p:nvPr/>
        </p:nvSpPr>
        <p:spPr>
          <a:xfrm>
            <a:off x="233916" y="143533"/>
            <a:ext cx="7559755" cy="940983"/>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Calculate total value per item ordered by multiplying quantity and item price. </a:t>
            </a:r>
            <a:endParaRPr lang="en-IN" sz="2000" dirty="0"/>
          </a:p>
        </p:txBody>
      </p:sp>
      <p:sp>
        <p:nvSpPr>
          <p:cNvPr id="3" name="Rectangle: Rounded Corners 2">
            <a:extLst>
              <a:ext uri="{FF2B5EF4-FFF2-40B4-BE49-F238E27FC236}">
                <a16:creationId xmlns:a16="http://schemas.microsoft.com/office/drawing/2014/main" id="{E56515FA-4D4B-9825-B0A1-F18E1B78222F}"/>
              </a:ext>
            </a:extLst>
          </p:cNvPr>
          <p:cNvSpPr/>
          <p:nvPr/>
        </p:nvSpPr>
        <p:spPr>
          <a:xfrm>
            <a:off x="8676168" y="265813"/>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4" name="Arrow: Right 3">
            <a:extLst>
              <a:ext uri="{FF2B5EF4-FFF2-40B4-BE49-F238E27FC236}">
                <a16:creationId xmlns:a16="http://schemas.microsoft.com/office/drawing/2014/main" id="{20D51313-B820-BFF2-286B-F33A1AC4441C}"/>
              </a:ext>
            </a:extLst>
          </p:cNvPr>
          <p:cNvSpPr/>
          <p:nvPr/>
        </p:nvSpPr>
        <p:spPr>
          <a:xfrm rot="10800000">
            <a:off x="7931892" y="377454"/>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3974E4FF-0B71-7508-06A8-D3BAC1967016}"/>
              </a:ext>
            </a:extLst>
          </p:cNvPr>
          <p:cNvSpPr/>
          <p:nvPr/>
        </p:nvSpPr>
        <p:spPr>
          <a:xfrm>
            <a:off x="987055" y="292563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9" name="Arrow: Right 8">
            <a:extLst>
              <a:ext uri="{FF2B5EF4-FFF2-40B4-BE49-F238E27FC236}">
                <a16:creationId xmlns:a16="http://schemas.microsoft.com/office/drawing/2014/main" id="{40BA9A97-252D-AF3F-5043-2E03D2E9E9D3}"/>
              </a:ext>
            </a:extLst>
          </p:cNvPr>
          <p:cNvSpPr/>
          <p:nvPr/>
        </p:nvSpPr>
        <p:spPr>
          <a:xfrm rot="16200000">
            <a:off x="1648046" y="2308110"/>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CF87D994-B7E9-A382-7C18-BA7F72C83AB6}"/>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3" name="Arrow: Right 12">
            <a:extLst>
              <a:ext uri="{FF2B5EF4-FFF2-40B4-BE49-F238E27FC236}">
                <a16:creationId xmlns:a16="http://schemas.microsoft.com/office/drawing/2014/main" id="{1FB91C45-C180-02E4-192B-8C0B6159B14C}"/>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0E592E4B-DC36-7B63-1AEF-9035BFAF4FEB}"/>
              </a:ext>
            </a:extLst>
          </p:cNvPr>
          <p:cNvSpPr/>
          <p:nvPr/>
        </p:nvSpPr>
        <p:spPr>
          <a:xfrm>
            <a:off x="1951073" y="4998811"/>
            <a:ext cx="3615069" cy="1488557"/>
          </a:xfrm>
          <a:prstGeom prst="roundRect">
            <a:avLst/>
          </a:prstGeom>
          <a:solidFill>
            <a:schemeClr val="accent2">
              <a:lumMod val="20000"/>
              <a:lumOff val="8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latin typeface="Bahnschrift SemiBold SemiConden" panose="020B0502040204020203" pitchFamily="34" charset="0"/>
              </a:rPr>
              <a:t>This can help generate item bill details or invoice breakdowns. </a:t>
            </a:r>
            <a:endParaRPr lang="en-IN" sz="2000" b="1" dirty="0">
              <a:latin typeface="Bahnschrift SemiBold SemiConden" panose="020B0502040204020203" pitchFamily="34" charset="0"/>
            </a:endParaRPr>
          </a:p>
        </p:txBody>
      </p:sp>
      <p:sp>
        <p:nvSpPr>
          <p:cNvPr id="15" name="Rectangle: Rounded Corners 14">
            <a:extLst>
              <a:ext uri="{FF2B5EF4-FFF2-40B4-BE49-F238E27FC236}">
                <a16:creationId xmlns:a16="http://schemas.microsoft.com/office/drawing/2014/main" id="{929CCE0A-4CAB-8ECB-477E-66F1561B0B89}"/>
              </a:ext>
            </a:extLst>
          </p:cNvPr>
          <p:cNvSpPr/>
          <p:nvPr/>
        </p:nvSpPr>
        <p:spPr>
          <a:xfrm>
            <a:off x="3329876" y="3631018"/>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6" name="Arrow: Right 15">
            <a:extLst>
              <a:ext uri="{FF2B5EF4-FFF2-40B4-BE49-F238E27FC236}">
                <a16:creationId xmlns:a16="http://schemas.microsoft.com/office/drawing/2014/main" id="{000F792C-374B-1D03-204E-D0BD4FAA04FA}"/>
              </a:ext>
            </a:extLst>
          </p:cNvPr>
          <p:cNvSpPr/>
          <p:nvPr/>
        </p:nvSpPr>
        <p:spPr>
          <a:xfrm rot="5400000">
            <a:off x="4157331" y="4369982"/>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0498C44F-32C3-0095-E58C-047CB9631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940" y="1321781"/>
            <a:ext cx="7102544" cy="73114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 name="Picture 10">
            <a:extLst>
              <a:ext uri="{FF2B5EF4-FFF2-40B4-BE49-F238E27FC236}">
                <a16:creationId xmlns:a16="http://schemas.microsoft.com/office/drawing/2014/main" id="{60062305-5819-5433-BBBF-121DCF7B6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4202" y="3442645"/>
            <a:ext cx="5187388" cy="311233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48819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D050">
            <a:alpha val="78000"/>
          </a:srgbClr>
        </a:solidFill>
        <a:effectLst/>
      </p:bgPr>
    </p:bg>
    <p:spTree>
      <p:nvGrpSpPr>
        <p:cNvPr id="1" name="">
          <a:extLst>
            <a:ext uri="{FF2B5EF4-FFF2-40B4-BE49-F238E27FC236}">
              <a16:creationId xmlns:a16="http://schemas.microsoft.com/office/drawing/2014/main" id="{0D80ACF0-38EE-84D3-2220-9FB50952569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6F662CF-728A-E39A-000F-2746AD10663B}"/>
              </a:ext>
            </a:extLst>
          </p:cNvPr>
          <p:cNvSpPr/>
          <p:nvPr/>
        </p:nvSpPr>
        <p:spPr>
          <a:xfrm>
            <a:off x="2606641" y="229927"/>
            <a:ext cx="5187030" cy="741622"/>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t>List products that do not have any stock left.</a:t>
            </a:r>
            <a:endParaRPr lang="en-IN" sz="2000" dirty="0"/>
          </a:p>
        </p:txBody>
      </p:sp>
      <p:sp>
        <p:nvSpPr>
          <p:cNvPr id="3" name="Rectangle: Rounded Corners 2">
            <a:extLst>
              <a:ext uri="{FF2B5EF4-FFF2-40B4-BE49-F238E27FC236}">
                <a16:creationId xmlns:a16="http://schemas.microsoft.com/office/drawing/2014/main" id="{C32FF83D-0201-74EF-C148-FA660B37D9A9}"/>
              </a:ext>
            </a:extLst>
          </p:cNvPr>
          <p:cNvSpPr/>
          <p:nvPr/>
        </p:nvSpPr>
        <p:spPr>
          <a:xfrm>
            <a:off x="8676168" y="265813"/>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4" name="Arrow: Right 3">
            <a:extLst>
              <a:ext uri="{FF2B5EF4-FFF2-40B4-BE49-F238E27FC236}">
                <a16:creationId xmlns:a16="http://schemas.microsoft.com/office/drawing/2014/main" id="{633A9D67-EFFF-2ACB-4F28-E17465A5DBA4}"/>
              </a:ext>
            </a:extLst>
          </p:cNvPr>
          <p:cNvSpPr/>
          <p:nvPr/>
        </p:nvSpPr>
        <p:spPr>
          <a:xfrm rot="10800000">
            <a:off x="7931892" y="377454"/>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BD643271-686A-9594-0468-57FA4B75D38B}"/>
              </a:ext>
            </a:extLst>
          </p:cNvPr>
          <p:cNvSpPr/>
          <p:nvPr/>
        </p:nvSpPr>
        <p:spPr>
          <a:xfrm>
            <a:off x="5840822" y="255879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9" name="Arrow: Right 8">
            <a:extLst>
              <a:ext uri="{FF2B5EF4-FFF2-40B4-BE49-F238E27FC236}">
                <a16:creationId xmlns:a16="http://schemas.microsoft.com/office/drawing/2014/main" id="{54B0CB33-12EA-1799-96FA-03AF870E037A}"/>
              </a:ext>
            </a:extLst>
          </p:cNvPr>
          <p:cNvSpPr/>
          <p:nvPr/>
        </p:nvSpPr>
        <p:spPr>
          <a:xfrm rot="16200000">
            <a:off x="6721549" y="1935047"/>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F8E10D46-51D3-2F1B-A107-D336511BD69D}"/>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3" name="Arrow: Right 12">
            <a:extLst>
              <a:ext uri="{FF2B5EF4-FFF2-40B4-BE49-F238E27FC236}">
                <a16:creationId xmlns:a16="http://schemas.microsoft.com/office/drawing/2014/main" id="{F173282A-F4C5-AB2E-0028-C5162860F8AD}"/>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A884098-E03E-3BE6-12E6-61CEFB03126D}"/>
              </a:ext>
            </a:extLst>
          </p:cNvPr>
          <p:cNvSpPr/>
          <p:nvPr/>
        </p:nvSpPr>
        <p:spPr>
          <a:xfrm>
            <a:off x="167232" y="4171597"/>
            <a:ext cx="2884312" cy="1569983"/>
          </a:xfrm>
          <a:prstGeom prst="roundRect">
            <a:avLst/>
          </a:prstGeom>
          <a:solidFill>
            <a:schemeClr val="accent6">
              <a:lumMod val="20000"/>
              <a:lumOff val="8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dirty="0">
                <a:latin typeface="Bahnschrift Condensed" panose="020B0502040204020203" pitchFamily="34" charset="0"/>
              </a:rPr>
              <a:t>This helps the inventory team identify out-of-stock items. </a:t>
            </a:r>
            <a:endParaRPr lang="en-IN" sz="2400" b="1" dirty="0">
              <a:latin typeface="Bahnschrift Condensed" panose="020B0502040204020203" pitchFamily="34" charset="0"/>
            </a:endParaRPr>
          </a:p>
        </p:txBody>
      </p:sp>
      <p:sp>
        <p:nvSpPr>
          <p:cNvPr id="15" name="Rectangle: Rounded Corners 14">
            <a:extLst>
              <a:ext uri="{FF2B5EF4-FFF2-40B4-BE49-F238E27FC236}">
                <a16:creationId xmlns:a16="http://schemas.microsoft.com/office/drawing/2014/main" id="{A0049B0B-A6FE-84B8-3F59-E038DB634BFB}"/>
              </a:ext>
            </a:extLst>
          </p:cNvPr>
          <p:cNvSpPr/>
          <p:nvPr/>
        </p:nvSpPr>
        <p:spPr>
          <a:xfrm>
            <a:off x="574048" y="2697263"/>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6" name="Arrow: Right 15">
            <a:extLst>
              <a:ext uri="{FF2B5EF4-FFF2-40B4-BE49-F238E27FC236}">
                <a16:creationId xmlns:a16="http://schemas.microsoft.com/office/drawing/2014/main" id="{B670F404-25D0-32ED-18CB-D123DF097426}"/>
              </a:ext>
            </a:extLst>
          </p:cNvPr>
          <p:cNvSpPr/>
          <p:nvPr/>
        </p:nvSpPr>
        <p:spPr>
          <a:xfrm rot="5400000">
            <a:off x="1316555" y="3496199"/>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7" name="Picture 16">
            <a:extLst>
              <a:ext uri="{FF2B5EF4-FFF2-40B4-BE49-F238E27FC236}">
                <a16:creationId xmlns:a16="http://schemas.microsoft.com/office/drawing/2014/main" id="{CD04E5D3-CA66-C452-5F38-761CE5F2C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557" y="1284386"/>
            <a:ext cx="7520114" cy="44890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9" name="Picture 18">
            <a:extLst>
              <a:ext uri="{FF2B5EF4-FFF2-40B4-BE49-F238E27FC236}">
                <a16:creationId xmlns:a16="http://schemas.microsoft.com/office/drawing/2014/main" id="{3C2710CB-E9A0-FB25-2D80-BBC801C19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4444" y="3429000"/>
            <a:ext cx="4585527" cy="267408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0" name="Rectangle: Rounded Corners 19">
            <a:extLst>
              <a:ext uri="{FF2B5EF4-FFF2-40B4-BE49-F238E27FC236}">
                <a16:creationId xmlns:a16="http://schemas.microsoft.com/office/drawing/2014/main" id="{74DCCA23-8E78-8BF9-5A77-C0D3D1A059E1}"/>
              </a:ext>
            </a:extLst>
          </p:cNvPr>
          <p:cNvSpPr/>
          <p:nvPr/>
        </p:nvSpPr>
        <p:spPr>
          <a:xfrm>
            <a:off x="3569875" y="3745571"/>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CONCLUTION</a:t>
            </a:r>
            <a:endParaRPr lang="en-IN" sz="2400" dirty="0">
              <a:latin typeface="Arial Black" panose="020B0A04020102020204" pitchFamily="34" charset="0"/>
            </a:endParaRPr>
          </a:p>
        </p:txBody>
      </p:sp>
      <p:sp>
        <p:nvSpPr>
          <p:cNvPr id="21" name="Rectangle: Rounded Corners 20">
            <a:extLst>
              <a:ext uri="{FF2B5EF4-FFF2-40B4-BE49-F238E27FC236}">
                <a16:creationId xmlns:a16="http://schemas.microsoft.com/office/drawing/2014/main" id="{D26A24C1-AD70-9E42-B4C2-18D33A9AEBDE}"/>
              </a:ext>
            </a:extLst>
          </p:cNvPr>
          <p:cNvSpPr/>
          <p:nvPr/>
        </p:nvSpPr>
        <p:spPr>
          <a:xfrm>
            <a:off x="3544836" y="5058090"/>
            <a:ext cx="3362778" cy="1569983"/>
          </a:xfrm>
          <a:prstGeom prst="roundRect">
            <a:avLst/>
          </a:prstGeom>
          <a:solidFill>
            <a:schemeClr val="accent4">
              <a:lumMod val="40000"/>
              <a:lumOff val="6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b="1" dirty="0">
                <a:solidFill>
                  <a:srgbClr val="0070C0"/>
                </a:solidFill>
                <a:latin typeface="Agency FB" panose="020B0503020202020204" pitchFamily="34" charset="0"/>
              </a:rPr>
              <a:t>There have No Products are  Out of Stock. All Product are Available.</a:t>
            </a:r>
            <a:endParaRPr lang="en-IN" sz="2400" b="1" dirty="0">
              <a:solidFill>
                <a:srgbClr val="0070C0"/>
              </a:solidFill>
              <a:latin typeface="Agency FB" panose="020B0503020202020204" pitchFamily="34" charset="0"/>
            </a:endParaRPr>
          </a:p>
        </p:txBody>
      </p:sp>
      <p:sp>
        <p:nvSpPr>
          <p:cNvPr id="22" name="Arrow: Right 21">
            <a:extLst>
              <a:ext uri="{FF2B5EF4-FFF2-40B4-BE49-F238E27FC236}">
                <a16:creationId xmlns:a16="http://schemas.microsoft.com/office/drawing/2014/main" id="{68E37BA3-9D29-FA98-BEC7-638CAF90C653}"/>
              </a:ext>
            </a:extLst>
          </p:cNvPr>
          <p:cNvSpPr/>
          <p:nvPr/>
        </p:nvSpPr>
        <p:spPr>
          <a:xfrm rot="5400000">
            <a:off x="4944462" y="4489247"/>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8326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74000">
              <a:schemeClr val="accent6">
                <a:lumMod val="45000"/>
                <a:lumOff val="55000"/>
              </a:schemeClr>
            </a:gs>
            <a:gs pos="83000">
              <a:schemeClr val="accent6">
                <a:lumMod val="45000"/>
                <a:lumOff val="55000"/>
              </a:schemeClr>
            </a:gs>
            <a:gs pos="100000">
              <a:schemeClr val="accent6">
                <a:lumMod val="30000"/>
                <a:lumOff val="70000"/>
              </a:schemeClr>
            </a:gs>
          </a:gsLst>
          <a:lin ang="16200000" scaled="1"/>
          <a:tileRect/>
        </a:gradFill>
        <a:effectLst/>
      </p:bgPr>
    </p:bg>
    <p:spTree>
      <p:nvGrpSpPr>
        <p:cNvPr id="1" name="">
          <a:extLst>
            <a:ext uri="{FF2B5EF4-FFF2-40B4-BE49-F238E27FC236}">
              <a16:creationId xmlns:a16="http://schemas.microsoft.com/office/drawing/2014/main" id="{337CD420-F5BE-1575-19BC-49FFC13AB29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99443FA-B576-36E2-A2D7-09B30785C502}"/>
              </a:ext>
            </a:extLst>
          </p:cNvPr>
          <p:cNvSpPr/>
          <p:nvPr/>
        </p:nvSpPr>
        <p:spPr>
          <a:xfrm>
            <a:off x="233917" y="265813"/>
            <a:ext cx="4026192" cy="637952"/>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t>The total number of orders placed </a:t>
            </a:r>
            <a:endParaRPr lang="en-IN" sz="2000" dirty="0"/>
          </a:p>
        </p:txBody>
      </p:sp>
      <p:sp>
        <p:nvSpPr>
          <p:cNvPr id="3" name="Rectangle: Rounded Corners 2">
            <a:extLst>
              <a:ext uri="{FF2B5EF4-FFF2-40B4-BE49-F238E27FC236}">
                <a16:creationId xmlns:a16="http://schemas.microsoft.com/office/drawing/2014/main" id="{0C245B24-520F-A5C1-4634-50F13B6A8D29}"/>
              </a:ext>
            </a:extLst>
          </p:cNvPr>
          <p:cNvSpPr/>
          <p:nvPr/>
        </p:nvSpPr>
        <p:spPr>
          <a:xfrm>
            <a:off x="4998829" y="230854"/>
            <a:ext cx="2056277"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Black" panose="020B0A04020102020204" pitchFamily="34" charset="0"/>
              </a:rPr>
              <a:t>QUESTIONS</a:t>
            </a:r>
            <a:endParaRPr lang="en-IN" sz="2000" dirty="0">
              <a:latin typeface="Arial Black" panose="020B0A04020102020204" pitchFamily="34" charset="0"/>
            </a:endParaRPr>
          </a:p>
        </p:txBody>
      </p:sp>
      <p:sp>
        <p:nvSpPr>
          <p:cNvPr id="4" name="Arrow: Right 3">
            <a:extLst>
              <a:ext uri="{FF2B5EF4-FFF2-40B4-BE49-F238E27FC236}">
                <a16:creationId xmlns:a16="http://schemas.microsoft.com/office/drawing/2014/main" id="{FC69B299-210A-716D-D363-E95A7AAAC913}"/>
              </a:ext>
            </a:extLst>
          </p:cNvPr>
          <p:cNvSpPr/>
          <p:nvPr/>
        </p:nvSpPr>
        <p:spPr>
          <a:xfrm rot="10800000">
            <a:off x="4398329" y="345555"/>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6B2ACC4B-F28C-E351-4A4B-91893F5FEFB7}"/>
              </a:ext>
            </a:extLst>
          </p:cNvPr>
          <p:cNvSpPr/>
          <p:nvPr/>
        </p:nvSpPr>
        <p:spPr>
          <a:xfrm>
            <a:off x="5257995" y="1490831"/>
            <a:ext cx="1608183" cy="552936"/>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12" name="Rectangle: Rounded Corners 11">
            <a:extLst>
              <a:ext uri="{FF2B5EF4-FFF2-40B4-BE49-F238E27FC236}">
                <a16:creationId xmlns:a16="http://schemas.microsoft.com/office/drawing/2014/main" id="{D44AA383-7816-B10E-4F83-C9173EEFC96F}"/>
              </a:ext>
            </a:extLst>
          </p:cNvPr>
          <p:cNvSpPr/>
          <p:nvPr/>
        </p:nvSpPr>
        <p:spPr>
          <a:xfrm>
            <a:off x="5333235" y="3081615"/>
            <a:ext cx="1721871"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15" name="Rectangle: Rounded Corners 14">
            <a:extLst>
              <a:ext uri="{FF2B5EF4-FFF2-40B4-BE49-F238E27FC236}">
                <a16:creationId xmlns:a16="http://schemas.microsoft.com/office/drawing/2014/main" id="{9B88F72F-1B5B-639B-1F8A-47A91B9C9C8C}"/>
              </a:ext>
            </a:extLst>
          </p:cNvPr>
          <p:cNvSpPr/>
          <p:nvPr/>
        </p:nvSpPr>
        <p:spPr>
          <a:xfrm>
            <a:off x="5251553" y="5326321"/>
            <a:ext cx="1550827"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21" name="Rectangle: Rounded Corners 20">
            <a:extLst>
              <a:ext uri="{FF2B5EF4-FFF2-40B4-BE49-F238E27FC236}">
                <a16:creationId xmlns:a16="http://schemas.microsoft.com/office/drawing/2014/main" id="{4CEEC645-FFFF-DCFE-2363-A47A3003DC03}"/>
              </a:ext>
            </a:extLst>
          </p:cNvPr>
          <p:cNvSpPr/>
          <p:nvPr/>
        </p:nvSpPr>
        <p:spPr>
          <a:xfrm>
            <a:off x="635009" y="4862927"/>
            <a:ext cx="3763320" cy="1532841"/>
          </a:xfrm>
          <a:prstGeom prst="roundRect">
            <a:avLst/>
          </a:prstGeom>
          <a:solidFill>
            <a:schemeClr val="accent6">
              <a:lumMod val="40000"/>
              <a:lumOff val="6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b="1" dirty="0">
                <a:ln w="0"/>
                <a:solidFill>
                  <a:srgbClr val="EE0000"/>
                </a:solidFill>
                <a:effectLst>
                  <a:outerShdw blurRad="38100" dist="19050" dir="2700000" algn="tl" rotWithShape="0">
                    <a:schemeClr val="dk1">
                      <a:alpha val="40000"/>
                    </a:schemeClr>
                  </a:outerShdw>
                </a:effectLst>
                <a:latin typeface="Bell MT" panose="02020503060305020303" pitchFamily="18" charset="0"/>
              </a:rPr>
              <a:t>Used by business managers to track order volume over time. </a:t>
            </a:r>
            <a:endParaRPr lang="en-IN" sz="2400" b="1" dirty="0">
              <a:ln w="0"/>
              <a:solidFill>
                <a:srgbClr val="EE0000"/>
              </a:solidFill>
              <a:effectLst>
                <a:outerShdw blurRad="38100" dist="19050" dir="2700000" algn="tl" rotWithShape="0">
                  <a:schemeClr val="dk1">
                    <a:alpha val="40000"/>
                  </a:schemeClr>
                </a:outerShdw>
              </a:effectLst>
              <a:latin typeface="Bell MT" panose="02020503060305020303" pitchFamily="18" charset="0"/>
            </a:endParaRPr>
          </a:p>
        </p:txBody>
      </p:sp>
      <p:sp>
        <p:nvSpPr>
          <p:cNvPr id="7" name="Rectangle: Rounded Corners 6">
            <a:extLst>
              <a:ext uri="{FF2B5EF4-FFF2-40B4-BE49-F238E27FC236}">
                <a16:creationId xmlns:a16="http://schemas.microsoft.com/office/drawing/2014/main" id="{CA1EC8F8-CD52-A77A-92C9-A0910C2215D4}"/>
              </a:ext>
            </a:extLst>
          </p:cNvPr>
          <p:cNvSpPr/>
          <p:nvPr/>
        </p:nvSpPr>
        <p:spPr>
          <a:xfrm>
            <a:off x="7798907" y="198957"/>
            <a:ext cx="4300944" cy="593166"/>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r>
              <a:rPr lang="en-US" sz="1700" b="1" dirty="0"/>
              <a:t>The total revenue collected from all orders. </a:t>
            </a:r>
            <a:endParaRPr lang="en-IN" sz="1700" dirty="0"/>
          </a:p>
        </p:txBody>
      </p:sp>
      <p:sp>
        <p:nvSpPr>
          <p:cNvPr id="11" name="Arrow: Right 10">
            <a:extLst>
              <a:ext uri="{FF2B5EF4-FFF2-40B4-BE49-F238E27FC236}">
                <a16:creationId xmlns:a16="http://schemas.microsoft.com/office/drawing/2014/main" id="{421378FC-9AFC-3C40-167A-A0B36896FBFA}"/>
              </a:ext>
            </a:extLst>
          </p:cNvPr>
          <p:cNvSpPr/>
          <p:nvPr/>
        </p:nvSpPr>
        <p:spPr>
          <a:xfrm>
            <a:off x="7219673" y="318976"/>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41DF77FA-8810-9E81-6CE2-EFC901591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43" y="1544015"/>
            <a:ext cx="5050464" cy="4465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1" name="Picture 30">
            <a:extLst>
              <a:ext uri="{FF2B5EF4-FFF2-40B4-BE49-F238E27FC236}">
                <a16:creationId xmlns:a16="http://schemas.microsoft.com/office/drawing/2014/main" id="{F7A2640C-33F7-946C-4F7A-224827880C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680" y="2689990"/>
            <a:ext cx="3539415" cy="138930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Arrow: Right 31">
            <a:extLst>
              <a:ext uri="{FF2B5EF4-FFF2-40B4-BE49-F238E27FC236}">
                <a16:creationId xmlns:a16="http://schemas.microsoft.com/office/drawing/2014/main" id="{604AE712-1CB9-AF43-16B3-E8CC07B0BB17}"/>
              </a:ext>
            </a:extLst>
          </p:cNvPr>
          <p:cNvSpPr/>
          <p:nvPr/>
        </p:nvSpPr>
        <p:spPr>
          <a:xfrm rot="10800000">
            <a:off x="4688841" y="3205716"/>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4" name="Picture 33">
            <a:extLst>
              <a:ext uri="{FF2B5EF4-FFF2-40B4-BE49-F238E27FC236}">
                <a16:creationId xmlns:a16="http://schemas.microsoft.com/office/drawing/2014/main" id="{B65C313D-57C0-BE00-53A6-6FCA6A3D44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4522" y="1559318"/>
            <a:ext cx="5035367" cy="4159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8" name="Picture 37">
            <a:extLst>
              <a:ext uri="{FF2B5EF4-FFF2-40B4-BE49-F238E27FC236}">
                <a16:creationId xmlns:a16="http://schemas.microsoft.com/office/drawing/2014/main" id="{0CF91336-412E-1907-E132-58E0E1A9B1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0434" y="2635054"/>
            <a:ext cx="3657890" cy="158789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9" name="Arrow: Right 38">
            <a:extLst>
              <a:ext uri="{FF2B5EF4-FFF2-40B4-BE49-F238E27FC236}">
                <a16:creationId xmlns:a16="http://schemas.microsoft.com/office/drawing/2014/main" id="{2D058C85-03F5-1897-3F3D-ADD2B260E50D}"/>
              </a:ext>
            </a:extLst>
          </p:cNvPr>
          <p:cNvSpPr/>
          <p:nvPr/>
        </p:nvSpPr>
        <p:spPr>
          <a:xfrm>
            <a:off x="7231834" y="3145406"/>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E090AF30-913C-E302-9C7C-AE7C0BF6A5BB}"/>
              </a:ext>
            </a:extLst>
          </p:cNvPr>
          <p:cNvSpPr/>
          <p:nvPr/>
        </p:nvSpPr>
        <p:spPr>
          <a:xfrm>
            <a:off x="7640545" y="4889694"/>
            <a:ext cx="3763320" cy="1532841"/>
          </a:xfrm>
          <a:prstGeom prst="roundRect">
            <a:avLst/>
          </a:prstGeom>
          <a:solidFill>
            <a:schemeClr val="accent4">
              <a:lumMod val="60000"/>
              <a:lumOff val="4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800" dirty="0">
                <a:latin typeface="Britannic Bold" panose="020B0903060703020204" pitchFamily="34" charset="0"/>
              </a:rPr>
              <a:t>This gives the overall sales value. </a:t>
            </a:r>
            <a:endParaRPr lang="en-IN" sz="2800" b="1" dirty="0">
              <a:ln w="0"/>
              <a:solidFill>
                <a:srgbClr val="EE0000"/>
              </a:solidFill>
              <a:effectLst>
                <a:outerShdw blurRad="38100" dist="19050" dir="2700000" algn="tl" rotWithShape="0">
                  <a:schemeClr val="dk1">
                    <a:alpha val="40000"/>
                  </a:schemeClr>
                </a:outerShdw>
              </a:effectLst>
              <a:latin typeface="Britannic Bold" panose="020B0903060703020204" pitchFamily="34" charset="0"/>
            </a:endParaRPr>
          </a:p>
        </p:txBody>
      </p:sp>
      <p:sp>
        <p:nvSpPr>
          <p:cNvPr id="41" name="Arrow: Right 40">
            <a:extLst>
              <a:ext uri="{FF2B5EF4-FFF2-40B4-BE49-F238E27FC236}">
                <a16:creationId xmlns:a16="http://schemas.microsoft.com/office/drawing/2014/main" id="{BC2F4A51-8655-3B4C-6E13-09D5D797F50F}"/>
              </a:ext>
            </a:extLst>
          </p:cNvPr>
          <p:cNvSpPr/>
          <p:nvPr/>
        </p:nvSpPr>
        <p:spPr>
          <a:xfrm rot="10800000">
            <a:off x="4638186" y="5411378"/>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Right 41">
            <a:extLst>
              <a:ext uri="{FF2B5EF4-FFF2-40B4-BE49-F238E27FC236}">
                <a16:creationId xmlns:a16="http://schemas.microsoft.com/office/drawing/2014/main" id="{FD1EF442-E679-76B7-3FCA-E6468A2AAD8A}"/>
              </a:ext>
            </a:extLst>
          </p:cNvPr>
          <p:cNvSpPr/>
          <p:nvPr/>
        </p:nvSpPr>
        <p:spPr>
          <a:xfrm>
            <a:off x="6966280" y="5377646"/>
            <a:ext cx="446566" cy="446567"/>
          </a:xfrm>
          <a:prstGeom prst="rightArrow">
            <a:avLst>
              <a:gd name="adj1" fmla="val 404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49242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F86F11E-FC0B-90BB-B526-5248C789AD99}"/>
              </a:ext>
            </a:extLst>
          </p:cNvPr>
          <p:cNvSpPr/>
          <p:nvPr/>
        </p:nvSpPr>
        <p:spPr>
          <a:xfrm>
            <a:off x="7908029" y="342898"/>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526895F7-FCB0-7E25-ED11-7406DA9B8A73}"/>
              </a:ext>
            </a:extLst>
          </p:cNvPr>
          <p:cNvSpPr/>
          <p:nvPr/>
        </p:nvSpPr>
        <p:spPr>
          <a:xfrm rot="10800000">
            <a:off x="7187613" y="42264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A96B8873-5D25-A016-F7D7-6DFC623ABAB5}"/>
              </a:ext>
            </a:extLst>
          </p:cNvPr>
          <p:cNvSpPr/>
          <p:nvPr/>
        </p:nvSpPr>
        <p:spPr>
          <a:xfrm>
            <a:off x="497542" y="334353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D786E773-E1E7-1637-AC26-4A0C78AE641B}"/>
              </a:ext>
            </a:extLst>
          </p:cNvPr>
          <p:cNvSpPr/>
          <p:nvPr/>
        </p:nvSpPr>
        <p:spPr>
          <a:xfrm rot="16200000">
            <a:off x="1309167" y="2743616"/>
            <a:ext cx="467821"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4EBE238-9204-D83E-4C9A-4D8C4BE26AD3}"/>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EF6881F6-17A6-A529-922E-E6D74357827D}"/>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55B9F6C9-CE54-D127-812E-154C16264BF6}"/>
              </a:ext>
            </a:extLst>
          </p:cNvPr>
          <p:cNvSpPr/>
          <p:nvPr/>
        </p:nvSpPr>
        <p:spPr>
          <a:xfrm>
            <a:off x="1573619" y="5207881"/>
            <a:ext cx="3792857" cy="1029849"/>
          </a:xfrm>
          <a:prstGeom prst="roundRect">
            <a:avLst/>
          </a:prstGeom>
          <a:solidFill>
            <a:schemeClr val="accent2">
              <a:lumMod val="20000"/>
              <a:lumOff val="80000"/>
            </a:schemeClr>
          </a:solidFill>
          <a:ln w="38100">
            <a:solidFill>
              <a:schemeClr val="accent6">
                <a:lumMod val="75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solidFill>
                  <a:schemeClr val="tx1"/>
                </a:solidFill>
                <a:latin typeface="Bahnschrift SemiBold SemiConden" panose="020B0502040204020203" pitchFamily="34" charset="0"/>
              </a:rPr>
              <a:t>Its help to find Which Customers are Valuables.</a:t>
            </a:r>
            <a:endParaRPr lang="en-IN" sz="2000" b="1" dirty="0">
              <a:solidFill>
                <a:schemeClr val="tx1"/>
              </a:solidFill>
              <a:latin typeface="Bahnschrift SemiBold SemiConden" panose="020B0502040204020203" pitchFamily="34" charset="0"/>
            </a:endParaRPr>
          </a:p>
        </p:txBody>
      </p:sp>
      <p:sp>
        <p:nvSpPr>
          <p:cNvPr id="9" name="Rectangle: Rounded Corners 8">
            <a:extLst>
              <a:ext uri="{FF2B5EF4-FFF2-40B4-BE49-F238E27FC236}">
                <a16:creationId xmlns:a16="http://schemas.microsoft.com/office/drawing/2014/main" id="{6F13C7C2-37A1-ACE2-81F4-4AE508DEAFB0}"/>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4AAF92F7-487D-D7BC-1B3E-3B97756CE60A}"/>
              </a:ext>
            </a:extLst>
          </p:cNvPr>
          <p:cNvSpPr/>
          <p:nvPr/>
        </p:nvSpPr>
        <p:spPr>
          <a:xfrm rot="5400000">
            <a:off x="4284922" y="4570547"/>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961A4EC0-CF29-5924-0BDB-0D80CE0510BE}"/>
              </a:ext>
            </a:extLst>
          </p:cNvPr>
          <p:cNvSpPr/>
          <p:nvPr/>
        </p:nvSpPr>
        <p:spPr>
          <a:xfrm>
            <a:off x="1282581" y="275114"/>
            <a:ext cx="5568746" cy="741622"/>
          </a:xfrm>
          <a:prstGeom prst="roundRect">
            <a:avLst>
              <a:gd name="adj" fmla="val 50000"/>
            </a:avLst>
          </a:prstGeom>
          <a:solidFill>
            <a:schemeClr val="accent2">
              <a:lumMod val="40000"/>
              <a:lumOff val="60000"/>
            </a:schemeClr>
          </a:solidFill>
          <a:ln>
            <a:solidFill>
              <a:srgbClr val="FFFF00"/>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t>Find total sales amount made by each customer.</a:t>
            </a:r>
            <a:endParaRPr lang="en-IN" sz="2000" dirty="0"/>
          </a:p>
        </p:txBody>
      </p:sp>
      <p:pic>
        <p:nvPicPr>
          <p:cNvPr id="15" name="Picture 14">
            <a:extLst>
              <a:ext uri="{FF2B5EF4-FFF2-40B4-BE49-F238E27FC236}">
                <a16:creationId xmlns:a16="http://schemas.microsoft.com/office/drawing/2014/main" id="{A44B9776-215D-5D1E-2A8C-34DF689EC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00" y="1298697"/>
            <a:ext cx="8465903" cy="121673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7" name="Picture 16">
            <a:extLst>
              <a:ext uri="{FF2B5EF4-FFF2-40B4-BE49-F238E27FC236}">
                <a16:creationId xmlns:a16="http://schemas.microsoft.com/office/drawing/2014/main" id="{4C7CA5C0-4843-BE04-1EB0-F25B67BDEA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7328" y="3396270"/>
            <a:ext cx="5492914" cy="3241720"/>
          </a:xfrm>
          <a:prstGeom prst="rect">
            <a:avLst/>
          </a:prstGeom>
          <a:ln w="127000" cap="rnd">
            <a:solidFill>
              <a:schemeClr val="accent4">
                <a:lumMod val="20000"/>
                <a:lumOff val="80000"/>
              </a:schemeClr>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30636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2159F43-EF55-4248-4C80-CBB9E4239C3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75485CE-953B-6B3B-43DA-471B9588BB8C}"/>
              </a:ext>
            </a:extLst>
          </p:cNvPr>
          <p:cNvSpPr/>
          <p:nvPr/>
        </p:nvSpPr>
        <p:spPr>
          <a:xfrm>
            <a:off x="7908029" y="342898"/>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8D365F77-1942-0E81-8A6A-4ABD9048AEC1}"/>
              </a:ext>
            </a:extLst>
          </p:cNvPr>
          <p:cNvSpPr/>
          <p:nvPr/>
        </p:nvSpPr>
        <p:spPr>
          <a:xfrm rot="10800000">
            <a:off x="7187613" y="42264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C9CBCC9F-5C6F-5A17-2EA4-D8A2E5C84029}"/>
              </a:ext>
            </a:extLst>
          </p:cNvPr>
          <p:cNvSpPr/>
          <p:nvPr/>
        </p:nvSpPr>
        <p:spPr>
          <a:xfrm>
            <a:off x="528084" y="316767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5A9D9197-87E6-E0E6-38FE-409FA781A60A}"/>
              </a:ext>
            </a:extLst>
          </p:cNvPr>
          <p:cNvSpPr/>
          <p:nvPr/>
        </p:nvSpPr>
        <p:spPr>
          <a:xfrm rot="16200000">
            <a:off x="1493880" y="2555567"/>
            <a:ext cx="467821"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16E9D170-5DB0-9643-2F98-C85A245134E0}"/>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B672DF79-4281-B0B3-ABF8-F9758AFADAFE}"/>
              </a:ext>
            </a:extLst>
          </p:cNvPr>
          <p:cNvSpPr/>
          <p:nvPr/>
        </p:nvSpPr>
        <p:spPr>
          <a:xfrm rot="5400000">
            <a:off x="10161182" y="2685133"/>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6FC2FEAD-5242-6F90-7CBC-265E33BE41F1}"/>
              </a:ext>
            </a:extLst>
          </p:cNvPr>
          <p:cNvSpPr/>
          <p:nvPr/>
        </p:nvSpPr>
        <p:spPr>
          <a:xfrm>
            <a:off x="1871330" y="5207881"/>
            <a:ext cx="3878016" cy="1363044"/>
          </a:xfrm>
          <a:prstGeom prst="roundRect">
            <a:avLst/>
          </a:prstGeom>
          <a:solidFill>
            <a:srgbClr val="92D050"/>
          </a:solidFill>
          <a:ln w="38100">
            <a:solidFill>
              <a:srgbClr val="00B0F0"/>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000" b="1" dirty="0">
                <a:latin typeface="Aptos Narrow" panose="020B0004020202020204" pitchFamily="34" charset="0"/>
              </a:rPr>
              <a:t>This helps category managers assess performance by department. </a:t>
            </a:r>
            <a:endParaRPr lang="en-IN" sz="2000" b="1" dirty="0">
              <a:solidFill>
                <a:schemeClr val="tx1"/>
              </a:solidFill>
              <a:latin typeface="Aptos Narrow" panose="020B0004020202020204" pitchFamily="34" charset="0"/>
            </a:endParaRPr>
          </a:p>
        </p:txBody>
      </p:sp>
      <p:sp>
        <p:nvSpPr>
          <p:cNvPr id="9" name="Rectangle: Rounded Corners 8">
            <a:extLst>
              <a:ext uri="{FF2B5EF4-FFF2-40B4-BE49-F238E27FC236}">
                <a16:creationId xmlns:a16="http://schemas.microsoft.com/office/drawing/2014/main" id="{24AE9197-36FA-AC7A-DD39-250511EC965E}"/>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2E089EBF-2E04-895F-F540-BE931163B2BD}"/>
              </a:ext>
            </a:extLst>
          </p:cNvPr>
          <p:cNvSpPr/>
          <p:nvPr/>
        </p:nvSpPr>
        <p:spPr>
          <a:xfrm rot="5400000">
            <a:off x="4284922" y="4570547"/>
            <a:ext cx="606055" cy="4465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1017A429-B18C-42D8-4915-BA2396AF04F1}"/>
              </a:ext>
            </a:extLst>
          </p:cNvPr>
          <p:cNvSpPr/>
          <p:nvPr/>
        </p:nvSpPr>
        <p:spPr>
          <a:xfrm>
            <a:off x="1789982" y="287075"/>
            <a:ext cx="5182014" cy="741622"/>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latin typeface="Aptos Narrow" panose="020B0004020202020204" pitchFamily="34" charset="0"/>
              </a:rPr>
              <a:t>List the number of products sold per category. </a:t>
            </a:r>
            <a:endParaRPr lang="en-IN" sz="2000" dirty="0">
              <a:latin typeface="Aptos Narrow" panose="020B0004020202020204" pitchFamily="34" charset="0"/>
            </a:endParaRPr>
          </a:p>
        </p:txBody>
      </p:sp>
      <p:pic>
        <p:nvPicPr>
          <p:cNvPr id="12" name="Picture 11">
            <a:extLst>
              <a:ext uri="{FF2B5EF4-FFF2-40B4-BE49-F238E27FC236}">
                <a16:creationId xmlns:a16="http://schemas.microsoft.com/office/drawing/2014/main" id="{B0EC7E93-776A-6462-0B65-38DCE154C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662" y="1500278"/>
            <a:ext cx="8459729" cy="881415"/>
          </a:xfrm>
          <a:prstGeom prst="rect">
            <a:avLst/>
          </a:prstGeom>
          <a:ln>
            <a:noFill/>
          </a:ln>
          <a:effectLst>
            <a:outerShdw blurRad="190500" algn="tl" rotWithShape="0">
              <a:srgbClr val="000000">
                <a:alpha val="70000"/>
              </a:srgbClr>
            </a:outerShdw>
          </a:effectLst>
        </p:spPr>
      </p:pic>
      <p:pic>
        <p:nvPicPr>
          <p:cNvPr id="19" name="Picture 18">
            <a:extLst>
              <a:ext uri="{FF2B5EF4-FFF2-40B4-BE49-F238E27FC236}">
                <a16:creationId xmlns:a16="http://schemas.microsoft.com/office/drawing/2014/main" id="{1424963A-D6D1-FA16-3B43-B7EE20AE64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7581" y="3623581"/>
            <a:ext cx="3878016" cy="2724056"/>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0560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334172D2-638C-6274-65AD-6C1341365B6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1649A6C-65C2-639E-59A8-167F733C1094}"/>
              </a:ext>
            </a:extLst>
          </p:cNvPr>
          <p:cNvSpPr/>
          <p:nvPr/>
        </p:nvSpPr>
        <p:spPr>
          <a:xfrm>
            <a:off x="7908029" y="342898"/>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ACF5DAE2-84DA-1181-C7BA-04F59633E28E}"/>
              </a:ext>
            </a:extLst>
          </p:cNvPr>
          <p:cNvSpPr/>
          <p:nvPr/>
        </p:nvSpPr>
        <p:spPr>
          <a:xfrm rot="10800000">
            <a:off x="7187613" y="42264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935342DE-4E27-9646-B141-C289415C956F}"/>
              </a:ext>
            </a:extLst>
          </p:cNvPr>
          <p:cNvSpPr/>
          <p:nvPr/>
        </p:nvSpPr>
        <p:spPr>
          <a:xfrm>
            <a:off x="505214" y="3003016"/>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7B48283B-2C2C-62FE-493C-F7F782E6F902}"/>
              </a:ext>
            </a:extLst>
          </p:cNvPr>
          <p:cNvSpPr/>
          <p:nvPr/>
        </p:nvSpPr>
        <p:spPr>
          <a:xfrm rot="16200000">
            <a:off x="1540122" y="2448009"/>
            <a:ext cx="467821"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2CFA536-AF7A-4B94-3731-B369EB550994}"/>
              </a:ext>
            </a:extLst>
          </p:cNvPr>
          <p:cNvSpPr/>
          <p:nvPr/>
        </p:nvSpPr>
        <p:spPr>
          <a:xfrm>
            <a:off x="9418675"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450BA33C-8572-6F60-5904-1D940045B46A}"/>
              </a:ext>
            </a:extLst>
          </p:cNvPr>
          <p:cNvSpPr/>
          <p:nvPr/>
        </p:nvSpPr>
        <p:spPr>
          <a:xfrm rot="5400000">
            <a:off x="10161182" y="268513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3310AC4C-41D8-1D9A-6906-AB920F81A41C}"/>
              </a:ext>
            </a:extLst>
          </p:cNvPr>
          <p:cNvSpPr/>
          <p:nvPr/>
        </p:nvSpPr>
        <p:spPr>
          <a:xfrm>
            <a:off x="1871330" y="5207881"/>
            <a:ext cx="3878016" cy="1118491"/>
          </a:xfrm>
          <a:prstGeom prst="roundRect">
            <a:avLst/>
          </a:prstGeom>
          <a:solidFill>
            <a:schemeClr val="accent4">
              <a:lumMod val="60000"/>
              <a:lumOff val="40000"/>
            </a:schemeClr>
          </a:solidFill>
          <a:ln w="38100">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2200" dirty="0"/>
              <a:t> It </a:t>
            </a:r>
            <a:r>
              <a:rPr lang="en-US" sz="2200" dirty="0"/>
              <a:t>used to track daily business activity and demand trends. </a:t>
            </a:r>
            <a:endParaRPr lang="en-IN" sz="2200" b="1" dirty="0">
              <a:solidFill>
                <a:schemeClr val="tx1"/>
              </a:solidFill>
              <a:latin typeface="Aptos Narrow" panose="020B0004020202020204" pitchFamily="34" charset="0"/>
            </a:endParaRPr>
          </a:p>
        </p:txBody>
      </p:sp>
      <p:sp>
        <p:nvSpPr>
          <p:cNvPr id="9" name="Rectangle: Rounded Corners 8">
            <a:extLst>
              <a:ext uri="{FF2B5EF4-FFF2-40B4-BE49-F238E27FC236}">
                <a16:creationId xmlns:a16="http://schemas.microsoft.com/office/drawing/2014/main" id="{7DB0B935-C4D8-8ADC-3013-3F3E6B263B9B}"/>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C4D65547-9DBF-BFFC-B828-CC8D96A5561C}"/>
              </a:ext>
            </a:extLst>
          </p:cNvPr>
          <p:cNvSpPr/>
          <p:nvPr/>
        </p:nvSpPr>
        <p:spPr>
          <a:xfrm rot="5400000">
            <a:off x="4284922" y="4570547"/>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16092C9-0739-8E0D-093C-B4CDBA700FAF}"/>
              </a:ext>
            </a:extLst>
          </p:cNvPr>
          <p:cNvSpPr/>
          <p:nvPr/>
        </p:nvSpPr>
        <p:spPr>
          <a:xfrm>
            <a:off x="1789982" y="287075"/>
            <a:ext cx="5182014" cy="741622"/>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200" b="1" dirty="0"/>
              <a:t>Show number of orders placed per day. </a:t>
            </a:r>
            <a:endParaRPr lang="en-IN" sz="2200" dirty="0">
              <a:latin typeface="Aptos Narrow" panose="020B0004020202020204" pitchFamily="34" charset="0"/>
            </a:endParaRPr>
          </a:p>
        </p:txBody>
      </p:sp>
      <p:pic>
        <p:nvPicPr>
          <p:cNvPr id="14" name="Picture 13">
            <a:extLst>
              <a:ext uri="{FF2B5EF4-FFF2-40B4-BE49-F238E27FC236}">
                <a16:creationId xmlns:a16="http://schemas.microsoft.com/office/drawing/2014/main" id="{A14F0945-6671-99F4-5F1A-55F489D9E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52" y="1433294"/>
            <a:ext cx="7812422" cy="74162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6" name="Picture 15">
            <a:extLst>
              <a:ext uri="{FF2B5EF4-FFF2-40B4-BE49-F238E27FC236}">
                <a16:creationId xmlns:a16="http://schemas.microsoft.com/office/drawing/2014/main" id="{C0B02C23-3E68-BB7F-F713-32FD93A2AD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7513" y="3429000"/>
            <a:ext cx="4132850" cy="313994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92113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6">
                <a:alpha val="0"/>
                <a:lumMod val="0"/>
              </a:schemeClr>
            </a:gs>
            <a:gs pos="23000">
              <a:schemeClr val="accent6">
                <a:lumMod val="89000"/>
              </a:schemeClr>
            </a:gs>
            <a:gs pos="69000">
              <a:schemeClr val="accent6">
                <a:lumMod val="75000"/>
              </a:schemeClr>
            </a:gs>
            <a:gs pos="97000">
              <a:schemeClr val="accent6">
                <a:lumMod val="70000"/>
              </a:schemeClr>
            </a:gs>
          </a:gsLst>
          <a:path path="shape">
            <a:fillToRect l="50000" t="50000" r="50000" b="50000"/>
          </a:path>
          <a:tileRect/>
        </a:gradFill>
        <a:effectLst/>
      </p:bgPr>
    </p:bg>
    <p:spTree>
      <p:nvGrpSpPr>
        <p:cNvPr id="1" name="">
          <a:extLst>
            <a:ext uri="{FF2B5EF4-FFF2-40B4-BE49-F238E27FC236}">
              <a16:creationId xmlns:a16="http://schemas.microsoft.com/office/drawing/2014/main" id="{6538069A-F332-328D-0C08-44B1A03795E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C83730D-8C0A-A031-ADA2-C0EFC5761AC7}"/>
              </a:ext>
            </a:extLst>
          </p:cNvPr>
          <p:cNvSpPr/>
          <p:nvPr/>
        </p:nvSpPr>
        <p:spPr>
          <a:xfrm>
            <a:off x="7908029" y="342898"/>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986C0E4D-9AF1-A34B-097C-41B793389A8C}"/>
              </a:ext>
            </a:extLst>
          </p:cNvPr>
          <p:cNvSpPr/>
          <p:nvPr/>
        </p:nvSpPr>
        <p:spPr>
          <a:xfrm rot="10800000">
            <a:off x="7187613" y="42264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B154A21D-8985-BBCD-E4CE-E86011D81139}"/>
              </a:ext>
            </a:extLst>
          </p:cNvPr>
          <p:cNvSpPr/>
          <p:nvPr/>
        </p:nvSpPr>
        <p:spPr>
          <a:xfrm>
            <a:off x="505214" y="3003016"/>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09686CC3-920A-346F-527B-CE066D2ECC67}"/>
              </a:ext>
            </a:extLst>
          </p:cNvPr>
          <p:cNvSpPr/>
          <p:nvPr/>
        </p:nvSpPr>
        <p:spPr>
          <a:xfrm rot="16200000">
            <a:off x="1540122" y="2448009"/>
            <a:ext cx="467821"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651066AB-FCAF-6C78-6236-442F5C6F7720}"/>
              </a:ext>
            </a:extLst>
          </p:cNvPr>
          <p:cNvSpPr/>
          <p:nvPr/>
        </p:nvSpPr>
        <p:spPr>
          <a:xfrm>
            <a:off x="9322982"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6CD4E657-115A-5B9C-9F94-0CD769EC5C3C}"/>
              </a:ext>
            </a:extLst>
          </p:cNvPr>
          <p:cNvSpPr/>
          <p:nvPr/>
        </p:nvSpPr>
        <p:spPr>
          <a:xfrm rot="5400000">
            <a:off x="10161182" y="268513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FE2CFF8-1B85-2A03-20A6-8AB427E3D042}"/>
              </a:ext>
            </a:extLst>
          </p:cNvPr>
          <p:cNvSpPr/>
          <p:nvPr/>
        </p:nvSpPr>
        <p:spPr>
          <a:xfrm>
            <a:off x="2089007" y="5207881"/>
            <a:ext cx="3561907" cy="1363044"/>
          </a:xfrm>
          <a:prstGeom prst="roundRect">
            <a:avLst/>
          </a:prstGeom>
          <a:solidFill>
            <a:schemeClr val="accent4">
              <a:lumMod val="60000"/>
              <a:lumOff val="40000"/>
            </a:schemeClr>
          </a:solidFill>
          <a:ln w="38100">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b="1" dirty="0"/>
              <a:t>Helps the finance team understand preferred transaction modes. </a:t>
            </a:r>
            <a:endParaRPr lang="en-IN" sz="2400" b="1" dirty="0">
              <a:solidFill>
                <a:schemeClr val="tx1"/>
              </a:solidFill>
              <a:latin typeface="Aptos Narrow" panose="020B0004020202020204" pitchFamily="34" charset="0"/>
            </a:endParaRPr>
          </a:p>
        </p:txBody>
      </p:sp>
      <p:sp>
        <p:nvSpPr>
          <p:cNvPr id="9" name="Rectangle: Rounded Corners 8">
            <a:extLst>
              <a:ext uri="{FF2B5EF4-FFF2-40B4-BE49-F238E27FC236}">
                <a16:creationId xmlns:a16="http://schemas.microsoft.com/office/drawing/2014/main" id="{A88CA6FE-8497-E146-9320-73C47CE7E161}"/>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7F945E57-030A-72B9-2FB1-F26A360133CA}"/>
              </a:ext>
            </a:extLst>
          </p:cNvPr>
          <p:cNvSpPr/>
          <p:nvPr/>
        </p:nvSpPr>
        <p:spPr>
          <a:xfrm rot="5400000">
            <a:off x="4284922" y="4570547"/>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D564E729-70CD-49AA-4F3E-EBB55B41B01E}"/>
              </a:ext>
            </a:extLst>
          </p:cNvPr>
          <p:cNvSpPr/>
          <p:nvPr/>
        </p:nvSpPr>
        <p:spPr>
          <a:xfrm>
            <a:off x="505214" y="287075"/>
            <a:ext cx="6299623" cy="741622"/>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200" b="1" dirty="0"/>
              <a:t>List total payments received per payment method.</a:t>
            </a:r>
            <a:endParaRPr lang="en-IN" sz="2200" dirty="0">
              <a:latin typeface="Aptos Narrow" panose="020B0004020202020204" pitchFamily="34" charset="0"/>
            </a:endParaRPr>
          </a:p>
        </p:txBody>
      </p:sp>
      <p:pic>
        <p:nvPicPr>
          <p:cNvPr id="12" name="Picture 11">
            <a:extLst>
              <a:ext uri="{FF2B5EF4-FFF2-40B4-BE49-F238E27FC236}">
                <a16:creationId xmlns:a16="http://schemas.microsoft.com/office/drawing/2014/main" id="{2B3D0AD0-64CA-093C-A98F-953075962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42" y="1397546"/>
            <a:ext cx="7868093" cy="77736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7" name="Picture 16">
            <a:extLst>
              <a:ext uri="{FF2B5EF4-FFF2-40B4-BE49-F238E27FC236}">
                <a16:creationId xmlns:a16="http://schemas.microsoft.com/office/drawing/2014/main" id="{F91202B5-0E50-362C-C504-45DA66D93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716" y="3329347"/>
            <a:ext cx="5237117" cy="310773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5959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2000"/>
            <a:lum/>
          </a:blip>
          <a:srcRect/>
          <a:tile tx="0" ty="0" sx="100000" sy="100000" flip="none" algn="tl"/>
        </a:blipFill>
        <a:effectLst/>
      </p:bgPr>
    </p:bg>
    <p:spTree>
      <p:nvGrpSpPr>
        <p:cNvPr id="1" name="">
          <a:extLst>
            <a:ext uri="{FF2B5EF4-FFF2-40B4-BE49-F238E27FC236}">
              <a16:creationId xmlns:a16="http://schemas.microsoft.com/office/drawing/2014/main" id="{CE4E324C-15A6-C4B8-6DE3-B345477E65A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7FF3119-9334-AD06-65BF-CCB098AA2391}"/>
              </a:ext>
            </a:extLst>
          </p:cNvPr>
          <p:cNvSpPr/>
          <p:nvPr/>
        </p:nvSpPr>
        <p:spPr>
          <a:xfrm>
            <a:off x="8727559" y="287075"/>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6A62368D-E774-D9AB-881A-E8339EA73238}"/>
              </a:ext>
            </a:extLst>
          </p:cNvPr>
          <p:cNvSpPr/>
          <p:nvPr/>
        </p:nvSpPr>
        <p:spPr>
          <a:xfrm rot="10800000">
            <a:off x="7974422" y="366818"/>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EFBC90A9-ED37-B420-03F7-FC68B24652E3}"/>
              </a:ext>
            </a:extLst>
          </p:cNvPr>
          <p:cNvSpPr/>
          <p:nvPr/>
        </p:nvSpPr>
        <p:spPr>
          <a:xfrm>
            <a:off x="579642" y="290772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4A9BAE0A-D8DF-5C4F-E80A-2F705416D09C}"/>
              </a:ext>
            </a:extLst>
          </p:cNvPr>
          <p:cNvSpPr/>
          <p:nvPr/>
        </p:nvSpPr>
        <p:spPr>
          <a:xfrm rot="16200000">
            <a:off x="1540122" y="2309781"/>
            <a:ext cx="467821"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3BA3045-7666-E0DC-21E5-7BB31F2536E0}"/>
              </a:ext>
            </a:extLst>
          </p:cNvPr>
          <p:cNvSpPr/>
          <p:nvPr/>
        </p:nvSpPr>
        <p:spPr>
          <a:xfrm>
            <a:off x="9322982"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9B42A756-3733-CA6D-ADA5-A78F86807E40}"/>
              </a:ext>
            </a:extLst>
          </p:cNvPr>
          <p:cNvSpPr/>
          <p:nvPr/>
        </p:nvSpPr>
        <p:spPr>
          <a:xfrm rot="5400000">
            <a:off x="10161182" y="268513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CA7EAE9-C4C7-65A4-BF20-05D0A56C9E46}"/>
              </a:ext>
            </a:extLst>
          </p:cNvPr>
          <p:cNvSpPr/>
          <p:nvPr/>
        </p:nvSpPr>
        <p:spPr>
          <a:xfrm>
            <a:off x="2089007" y="5207881"/>
            <a:ext cx="3561907" cy="1363044"/>
          </a:xfrm>
          <a:prstGeom prst="roundRect">
            <a:avLst/>
          </a:prstGeom>
          <a:solidFill>
            <a:schemeClr val="accent4">
              <a:lumMod val="60000"/>
              <a:lumOff val="40000"/>
            </a:schemeClr>
          </a:solidFill>
          <a:ln w="38100">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b="1" dirty="0"/>
              <a:t>Used to detect unusually high purchases per customer. </a:t>
            </a:r>
            <a:endParaRPr lang="en-IN" sz="2400" b="1" dirty="0">
              <a:solidFill>
                <a:schemeClr val="tx1"/>
              </a:solidFill>
              <a:latin typeface="Aptos Narrow" panose="020B0004020202020204" pitchFamily="34" charset="0"/>
            </a:endParaRPr>
          </a:p>
        </p:txBody>
      </p:sp>
      <p:sp>
        <p:nvSpPr>
          <p:cNvPr id="9" name="Rectangle: Rounded Corners 8">
            <a:extLst>
              <a:ext uri="{FF2B5EF4-FFF2-40B4-BE49-F238E27FC236}">
                <a16:creationId xmlns:a16="http://schemas.microsoft.com/office/drawing/2014/main" id="{7D770309-AAE9-CE14-7219-89C5BB0BCA6D}"/>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A2760CD4-9C2F-5007-66FD-ED056A7541C8}"/>
              </a:ext>
            </a:extLst>
          </p:cNvPr>
          <p:cNvSpPr/>
          <p:nvPr/>
        </p:nvSpPr>
        <p:spPr>
          <a:xfrm rot="5400000">
            <a:off x="4284922" y="4570547"/>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C99BA68C-349F-4CD5-F86C-C5901EA929FA}"/>
              </a:ext>
            </a:extLst>
          </p:cNvPr>
          <p:cNvSpPr/>
          <p:nvPr/>
        </p:nvSpPr>
        <p:spPr>
          <a:xfrm>
            <a:off x="265814" y="233910"/>
            <a:ext cx="7561526" cy="741622"/>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dirty="0"/>
              <a:t>Show orders whose total amount is above the average for that customer .</a:t>
            </a:r>
            <a:endParaRPr lang="en-IN" sz="2000" dirty="0">
              <a:latin typeface="Aptos Narrow" panose="020B0004020202020204" pitchFamily="34" charset="0"/>
            </a:endParaRPr>
          </a:p>
        </p:txBody>
      </p:sp>
      <p:pic>
        <p:nvPicPr>
          <p:cNvPr id="14" name="Picture 13">
            <a:extLst>
              <a:ext uri="{FF2B5EF4-FFF2-40B4-BE49-F238E27FC236}">
                <a16:creationId xmlns:a16="http://schemas.microsoft.com/office/drawing/2014/main" id="{B4243177-C993-8F6F-BE61-7845C65B59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451" y="1362607"/>
            <a:ext cx="8442108" cy="70120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6" name="Picture 15">
            <a:extLst>
              <a:ext uri="{FF2B5EF4-FFF2-40B4-BE49-F238E27FC236}">
                <a16:creationId xmlns:a16="http://schemas.microsoft.com/office/drawing/2014/main" id="{579592E4-5A99-FA9C-CD42-93A92E6D04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4475" y="3513779"/>
            <a:ext cx="5631234" cy="3057146"/>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321920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2000"/>
          </a:blip>
          <a:srcRect/>
          <a:tile tx="0" ty="0" sx="100000" sy="100000" flip="none" algn="tl"/>
        </a:blipFill>
        <a:effectLst/>
      </p:bgPr>
    </p:bg>
    <p:spTree>
      <p:nvGrpSpPr>
        <p:cNvPr id="1" name="">
          <a:extLst>
            <a:ext uri="{FF2B5EF4-FFF2-40B4-BE49-F238E27FC236}">
              <a16:creationId xmlns:a16="http://schemas.microsoft.com/office/drawing/2014/main" id="{ACEA8AEF-ABE5-3BD8-953E-6BE248EF425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D4CC549-A6BF-6025-5E65-D9F08E4C86F7}"/>
              </a:ext>
            </a:extLst>
          </p:cNvPr>
          <p:cNvSpPr/>
          <p:nvPr/>
        </p:nvSpPr>
        <p:spPr>
          <a:xfrm>
            <a:off x="8302548" y="313085"/>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F1204BB7-42BE-7417-3451-875E6F840B21}"/>
              </a:ext>
            </a:extLst>
          </p:cNvPr>
          <p:cNvSpPr/>
          <p:nvPr/>
        </p:nvSpPr>
        <p:spPr>
          <a:xfrm rot="10800000">
            <a:off x="7453427" y="388079"/>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860BB5FC-137B-26B2-0980-7C28D0DDF2BD}"/>
              </a:ext>
            </a:extLst>
          </p:cNvPr>
          <p:cNvSpPr/>
          <p:nvPr/>
        </p:nvSpPr>
        <p:spPr>
          <a:xfrm>
            <a:off x="637662" y="340901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D99E5ED3-72BE-0B6F-0026-C73113E24A71}"/>
              </a:ext>
            </a:extLst>
          </p:cNvPr>
          <p:cNvSpPr/>
          <p:nvPr/>
        </p:nvSpPr>
        <p:spPr>
          <a:xfrm rot="16200000">
            <a:off x="1423160" y="2775774"/>
            <a:ext cx="609262"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010E0BB8-B290-0B2C-FDA3-59B5D4A6812C}"/>
              </a:ext>
            </a:extLst>
          </p:cNvPr>
          <p:cNvSpPr/>
          <p:nvPr/>
        </p:nvSpPr>
        <p:spPr>
          <a:xfrm>
            <a:off x="9322982"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C18496ED-BF31-A33A-306A-99049A25FB2A}"/>
              </a:ext>
            </a:extLst>
          </p:cNvPr>
          <p:cNvSpPr/>
          <p:nvPr/>
        </p:nvSpPr>
        <p:spPr>
          <a:xfrm rot="5400000">
            <a:off x="10161182" y="268513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CB51999D-45E9-70B8-13A4-7FCF61614868}"/>
              </a:ext>
            </a:extLst>
          </p:cNvPr>
          <p:cNvSpPr/>
          <p:nvPr/>
        </p:nvSpPr>
        <p:spPr>
          <a:xfrm>
            <a:off x="467833" y="5207881"/>
            <a:ext cx="5183081" cy="1363044"/>
          </a:xfrm>
          <a:prstGeom prst="roundRect">
            <a:avLst/>
          </a:prstGeom>
          <a:solidFill>
            <a:schemeClr val="accent2">
              <a:lumMod val="60000"/>
              <a:lumOff val="40000"/>
            </a:schemeClr>
          </a:solidFill>
          <a:ln w="38100">
            <a:solidFill>
              <a:srgbClr val="7030A0"/>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200" b="1" dirty="0"/>
              <a:t>Used to identify the largest transaction made by each customer. Outputs name as well. </a:t>
            </a:r>
            <a:endParaRPr lang="en-IN" sz="2200" b="1" dirty="0">
              <a:solidFill>
                <a:schemeClr val="tx1"/>
              </a:solidFill>
              <a:latin typeface="Aptos Narrow" panose="020B0004020202020204" pitchFamily="34" charset="0"/>
            </a:endParaRPr>
          </a:p>
        </p:txBody>
      </p:sp>
      <p:sp>
        <p:nvSpPr>
          <p:cNvPr id="9" name="Rectangle: Rounded Corners 8">
            <a:extLst>
              <a:ext uri="{FF2B5EF4-FFF2-40B4-BE49-F238E27FC236}">
                <a16:creationId xmlns:a16="http://schemas.microsoft.com/office/drawing/2014/main" id="{D0169269-F92F-E881-8606-6889AC970621}"/>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1C6EC655-95DC-9A72-FD7B-D3C26EA68208}"/>
              </a:ext>
            </a:extLst>
          </p:cNvPr>
          <p:cNvSpPr/>
          <p:nvPr/>
        </p:nvSpPr>
        <p:spPr>
          <a:xfrm rot="5400000">
            <a:off x="4284922" y="4570547"/>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17C38AAA-B1CA-F4C7-2AB1-AF2E7EB6C4C1}"/>
              </a:ext>
            </a:extLst>
          </p:cNvPr>
          <p:cNvSpPr/>
          <p:nvPr/>
        </p:nvSpPr>
        <p:spPr>
          <a:xfrm>
            <a:off x="637662" y="270553"/>
            <a:ext cx="6464595" cy="741622"/>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400" b="1" dirty="0">
                <a:latin typeface="Aptos Narrow" panose="020B0004020202020204" pitchFamily="34" charset="0"/>
              </a:rPr>
              <a:t>Highest Order Per Customer (Including Names) </a:t>
            </a:r>
            <a:endParaRPr lang="en-IN" sz="2400" dirty="0">
              <a:latin typeface="Aptos Narrow" panose="020B0004020202020204" pitchFamily="34" charset="0"/>
            </a:endParaRPr>
          </a:p>
        </p:txBody>
      </p:sp>
      <p:pic>
        <p:nvPicPr>
          <p:cNvPr id="17" name="Picture 16">
            <a:extLst>
              <a:ext uri="{FF2B5EF4-FFF2-40B4-BE49-F238E27FC236}">
                <a16:creationId xmlns:a16="http://schemas.microsoft.com/office/drawing/2014/main" id="{07BA71FB-2002-AA46-517D-233DDAF2F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00" y="1459451"/>
            <a:ext cx="8761843" cy="9914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9" name="Picture 18">
            <a:extLst>
              <a:ext uri="{FF2B5EF4-FFF2-40B4-BE49-F238E27FC236}">
                <a16:creationId xmlns:a16="http://schemas.microsoft.com/office/drawing/2014/main" id="{1E6B3B4F-F43E-42E4-3F57-1EE6E457EC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1088" y="3409011"/>
            <a:ext cx="5356745" cy="310074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11280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0">
          <a:fgClr>
            <a:srgbClr val="002060"/>
          </a:fgClr>
          <a:bgClr>
            <a:schemeClr val="bg1"/>
          </a:bgClr>
        </a:pattFill>
        <a:effectLst/>
      </p:bgPr>
    </p:bg>
    <p:spTree>
      <p:nvGrpSpPr>
        <p:cNvPr id="1" name="">
          <a:extLst>
            <a:ext uri="{FF2B5EF4-FFF2-40B4-BE49-F238E27FC236}">
              <a16:creationId xmlns:a16="http://schemas.microsoft.com/office/drawing/2014/main" id="{894A6610-3925-1A10-ECC7-32DAD807FE6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7CA4EE8-CDEE-173E-4BB6-3F96175C6EFC}"/>
              </a:ext>
            </a:extLst>
          </p:cNvPr>
          <p:cNvSpPr/>
          <p:nvPr/>
        </p:nvSpPr>
        <p:spPr>
          <a:xfrm>
            <a:off x="8727559" y="270553"/>
            <a:ext cx="3281916"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QUESTION</a:t>
            </a:r>
            <a:endParaRPr lang="en-IN" sz="2400" dirty="0">
              <a:latin typeface="Arial Black" panose="020B0A04020102020204" pitchFamily="34" charset="0"/>
            </a:endParaRPr>
          </a:p>
        </p:txBody>
      </p:sp>
      <p:sp>
        <p:nvSpPr>
          <p:cNvPr id="3" name="Arrow: Right 2">
            <a:extLst>
              <a:ext uri="{FF2B5EF4-FFF2-40B4-BE49-F238E27FC236}">
                <a16:creationId xmlns:a16="http://schemas.microsoft.com/office/drawing/2014/main" id="{EB45555A-0F0A-9238-1EBF-B3201B70576C}"/>
              </a:ext>
            </a:extLst>
          </p:cNvPr>
          <p:cNvSpPr/>
          <p:nvPr/>
        </p:nvSpPr>
        <p:spPr>
          <a:xfrm rot="10800000">
            <a:off x="8063028" y="350296"/>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EACCBBC1-01FA-04A2-0A0F-8F91D5604D1B}"/>
              </a:ext>
            </a:extLst>
          </p:cNvPr>
          <p:cNvSpPr/>
          <p:nvPr/>
        </p:nvSpPr>
        <p:spPr>
          <a:xfrm>
            <a:off x="637662" y="3409010"/>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QUERY</a:t>
            </a:r>
            <a:endParaRPr lang="en-IN" sz="2400" dirty="0">
              <a:latin typeface="Arial Black" panose="020B0A04020102020204" pitchFamily="34" charset="0"/>
            </a:endParaRPr>
          </a:p>
        </p:txBody>
      </p:sp>
      <p:sp>
        <p:nvSpPr>
          <p:cNvPr id="5" name="Arrow: Right 4">
            <a:extLst>
              <a:ext uri="{FF2B5EF4-FFF2-40B4-BE49-F238E27FC236}">
                <a16:creationId xmlns:a16="http://schemas.microsoft.com/office/drawing/2014/main" id="{DCB078FF-CFB8-8AC5-D995-6BC2E5A71E22}"/>
              </a:ext>
            </a:extLst>
          </p:cNvPr>
          <p:cNvSpPr/>
          <p:nvPr/>
        </p:nvSpPr>
        <p:spPr>
          <a:xfrm rot="16200000">
            <a:off x="1423160" y="2775774"/>
            <a:ext cx="609262"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879BF299-BAF0-F507-D87F-2F406CA2811F}"/>
              </a:ext>
            </a:extLst>
          </p:cNvPr>
          <p:cNvSpPr/>
          <p:nvPr/>
        </p:nvSpPr>
        <p:spPr>
          <a:xfrm>
            <a:off x="9322982" y="1909375"/>
            <a:ext cx="2091070" cy="606055"/>
          </a:xfrm>
          <a:prstGeom prst="roundRect">
            <a:avLst/>
          </a:prstGeom>
          <a:solidFill>
            <a:schemeClr val="bg2"/>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OUTPUT</a:t>
            </a:r>
            <a:endParaRPr lang="en-IN" sz="2400" dirty="0">
              <a:latin typeface="Arial Black" panose="020B0A04020102020204" pitchFamily="34" charset="0"/>
            </a:endParaRPr>
          </a:p>
        </p:txBody>
      </p:sp>
      <p:sp>
        <p:nvSpPr>
          <p:cNvPr id="7" name="Arrow: Right 6">
            <a:extLst>
              <a:ext uri="{FF2B5EF4-FFF2-40B4-BE49-F238E27FC236}">
                <a16:creationId xmlns:a16="http://schemas.microsoft.com/office/drawing/2014/main" id="{0DA0CBDE-BC30-6E4A-3B9D-20ED47B8D663}"/>
              </a:ext>
            </a:extLst>
          </p:cNvPr>
          <p:cNvSpPr/>
          <p:nvPr/>
        </p:nvSpPr>
        <p:spPr>
          <a:xfrm rot="5400000">
            <a:off x="10161182" y="2685133"/>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0A7C598D-CB56-D132-9618-73A74901F220}"/>
              </a:ext>
            </a:extLst>
          </p:cNvPr>
          <p:cNvSpPr/>
          <p:nvPr/>
        </p:nvSpPr>
        <p:spPr>
          <a:xfrm>
            <a:off x="467833" y="5207881"/>
            <a:ext cx="5183081" cy="1363044"/>
          </a:xfrm>
          <a:prstGeom prst="roundRect">
            <a:avLst/>
          </a:prstGeom>
          <a:solidFill>
            <a:schemeClr val="accent2">
              <a:lumMod val="60000"/>
              <a:lumOff val="40000"/>
            </a:schemeClr>
          </a:solidFill>
          <a:ln w="38100">
            <a:solidFill>
              <a:srgbClr val="7030A0"/>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dirty="0">
                <a:latin typeface="Bahnschrift SemiBold SemiConden" panose="020B0502040204020203" pitchFamily="34" charset="0"/>
              </a:rPr>
              <a:t>Used to identify engaged customers from different activity areas. </a:t>
            </a:r>
            <a:endParaRPr lang="en-IN" sz="2400" b="1" dirty="0">
              <a:solidFill>
                <a:schemeClr val="tx1"/>
              </a:solidFill>
              <a:latin typeface="Bahnschrift SemiBold SemiConden" panose="020B0502040204020203" pitchFamily="34" charset="0"/>
            </a:endParaRPr>
          </a:p>
        </p:txBody>
      </p:sp>
      <p:sp>
        <p:nvSpPr>
          <p:cNvPr id="9" name="Rectangle: Rounded Corners 8">
            <a:extLst>
              <a:ext uri="{FF2B5EF4-FFF2-40B4-BE49-F238E27FC236}">
                <a16:creationId xmlns:a16="http://schemas.microsoft.com/office/drawing/2014/main" id="{BE29F7DE-03E3-29D7-26BE-6AC43EA5A492}"/>
              </a:ext>
            </a:extLst>
          </p:cNvPr>
          <p:cNvSpPr/>
          <p:nvPr/>
        </p:nvSpPr>
        <p:spPr>
          <a:xfrm>
            <a:off x="3440216" y="3773725"/>
            <a:ext cx="2091070" cy="606055"/>
          </a:xfrm>
          <a:prstGeom prst="roundRect">
            <a:avLst/>
          </a:prstGeom>
          <a:solidFill>
            <a:schemeClr val="accent3">
              <a:lumMod val="40000"/>
              <a:lumOff val="60000"/>
            </a:schemeClr>
          </a:solidFill>
          <a:ln w="57150">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Arial Black" panose="020B0A04020102020204" pitchFamily="34" charset="0"/>
              </a:rPr>
              <a:t>HELP</a:t>
            </a:r>
            <a:endParaRPr lang="en-IN" sz="2400" dirty="0">
              <a:latin typeface="Arial Black" panose="020B0A04020102020204" pitchFamily="34" charset="0"/>
            </a:endParaRPr>
          </a:p>
        </p:txBody>
      </p:sp>
      <p:sp>
        <p:nvSpPr>
          <p:cNvPr id="10" name="Arrow: Right 9">
            <a:extLst>
              <a:ext uri="{FF2B5EF4-FFF2-40B4-BE49-F238E27FC236}">
                <a16:creationId xmlns:a16="http://schemas.microsoft.com/office/drawing/2014/main" id="{E1471194-9767-0731-65B5-032F6B685728}"/>
              </a:ext>
            </a:extLst>
          </p:cNvPr>
          <p:cNvSpPr/>
          <p:nvPr/>
        </p:nvSpPr>
        <p:spPr>
          <a:xfrm rot="5400000">
            <a:off x="4284922" y="4570547"/>
            <a:ext cx="606055" cy="446567"/>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F7DBBBFE-9D14-1353-21CA-AB44B46DBF46}"/>
              </a:ext>
            </a:extLst>
          </p:cNvPr>
          <p:cNvSpPr/>
          <p:nvPr/>
        </p:nvSpPr>
        <p:spPr>
          <a:xfrm>
            <a:off x="159488" y="270553"/>
            <a:ext cx="7845064" cy="606055"/>
          </a:xfrm>
          <a:prstGeom prst="roundRect">
            <a:avLst>
              <a:gd name="adj" fmla="val 50000"/>
            </a:avLst>
          </a:prstGeom>
          <a:solidFill>
            <a:schemeClr val="accent4">
              <a:lumMod val="40000"/>
              <a:lumOff val="60000"/>
            </a:schemeClr>
          </a:solidFill>
          <a:ln w="28575">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b="1" dirty="0"/>
              <a:t>List all customers who have either placed an order or written a product review </a:t>
            </a:r>
            <a:endParaRPr lang="en-IN" sz="2400" dirty="0">
              <a:latin typeface="Aptos Narrow" panose="020B0004020202020204" pitchFamily="34" charset="0"/>
            </a:endParaRPr>
          </a:p>
        </p:txBody>
      </p:sp>
      <p:pic>
        <p:nvPicPr>
          <p:cNvPr id="12" name="Picture 11">
            <a:extLst>
              <a:ext uri="{FF2B5EF4-FFF2-40B4-BE49-F238E27FC236}">
                <a16:creationId xmlns:a16="http://schemas.microsoft.com/office/drawing/2014/main" id="{81B86155-B430-618A-243C-2093EA03C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094" y="1053371"/>
            <a:ext cx="8432465" cy="152753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8" name="Picture 17">
            <a:extLst>
              <a:ext uri="{FF2B5EF4-FFF2-40B4-BE49-F238E27FC236}">
                <a16:creationId xmlns:a16="http://schemas.microsoft.com/office/drawing/2014/main" id="{8A914FEF-3F81-1BEC-C510-5C8773C10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398" y="3548197"/>
            <a:ext cx="5647077" cy="279944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895980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alphaModFix amt="82000"/>
          </a:blip>
          <a:tile tx="0" ty="0" sx="100000" sy="100000" flip="none" algn="tl"/>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5949560-E3F9-00DF-10D2-A960EA869AFE}"/>
              </a:ext>
            </a:extLst>
          </p:cNvPr>
          <p:cNvSpPr/>
          <p:nvPr/>
        </p:nvSpPr>
        <p:spPr>
          <a:xfrm>
            <a:off x="614916" y="1881963"/>
            <a:ext cx="10962168" cy="4593265"/>
          </a:xfrm>
          <a:prstGeom prst="roundRect">
            <a:avLst/>
          </a:prstGeom>
          <a:solidFill>
            <a:schemeClr val="accent6">
              <a:alpha val="50000"/>
            </a:schemeClr>
          </a:solidFill>
          <a:ln w="381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v"/>
            </a:pPr>
            <a:endParaRPr lang="en-US" sz="2800" dirty="0">
              <a:latin typeface="Bahnschrift SemiBold Condensed" panose="020B0502040204020203" pitchFamily="34" charset="0"/>
            </a:endParaRPr>
          </a:p>
          <a:p>
            <a:endParaRPr lang="en-US" sz="2800" dirty="0">
              <a:latin typeface="Bahnschrift SemiBold Condensed" panose="020B0502040204020203" pitchFamily="34" charset="0"/>
            </a:endParaRPr>
          </a:p>
          <a:p>
            <a:pPr marL="285750" indent="-285750">
              <a:buFont typeface="Wingdings" panose="05000000000000000000" pitchFamily="2" charset="2"/>
              <a:buChar char="v"/>
            </a:pPr>
            <a:endParaRPr lang="en-US" sz="2800" dirty="0">
              <a:latin typeface="Bahnschrift SemiBold Condensed" panose="020B0502040204020203" pitchFamily="34" charset="0"/>
            </a:endParaRPr>
          </a:p>
          <a:p>
            <a:pPr marL="285750" indent="-285750">
              <a:buFont typeface="Wingdings" panose="05000000000000000000" pitchFamily="2" charset="2"/>
              <a:buChar char="v"/>
            </a:pPr>
            <a:endParaRPr lang="en-US" sz="2800" dirty="0">
              <a:latin typeface="Bahnschrift SemiBold Condensed" panose="020B0502040204020203" pitchFamily="34" charset="0"/>
            </a:endParaRPr>
          </a:p>
          <a:p>
            <a:pPr marL="285750" indent="-285750">
              <a:buFont typeface="Wingdings" panose="05000000000000000000" pitchFamily="2" charset="2"/>
              <a:buChar char="v"/>
            </a:pPr>
            <a:r>
              <a:rPr lang="en-US" sz="2800" dirty="0">
                <a:latin typeface="Bahnschrift SemiBold Condensed" panose="020B0502040204020203" pitchFamily="34" charset="0"/>
              </a:rPr>
              <a:t>There are total revenue is 6960973.</a:t>
            </a:r>
          </a:p>
          <a:p>
            <a:pPr marL="285750" indent="-285750">
              <a:buFont typeface="Wingdings" panose="05000000000000000000" pitchFamily="2" charset="2"/>
              <a:buChar char="v"/>
            </a:pPr>
            <a:r>
              <a:rPr lang="en-US" sz="2800" dirty="0">
                <a:latin typeface="Bahnschrift SemiBold Condensed" panose="020B0502040204020203" pitchFamily="34" charset="0"/>
              </a:rPr>
              <a:t>There are 400 total number of order placed.</a:t>
            </a:r>
          </a:p>
          <a:p>
            <a:pPr marL="285750" indent="-285750">
              <a:buFont typeface="Wingdings" panose="05000000000000000000" pitchFamily="2" charset="2"/>
              <a:buChar char="v"/>
            </a:pPr>
            <a:r>
              <a:rPr lang="en-US" sz="2800" dirty="0">
                <a:latin typeface="Bahnschrift SemiBold Condensed" panose="020B0502040204020203" pitchFamily="34" charset="0"/>
              </a:rPr>
              <a:t> There are mid tier pricing customers are higher.</a:t>
            </a:r>
          </a:p>
          <a:p>
            <a:pPr marL="285750" indent="-285750">
              <a:buFont typeface="Wingdings" panose="05000000000000000000" pitchFamily="2" charset="2"/>
              <a:buChar char="v"/>
            </a:pPr>
            <a:r>
              <a:rPr lang="en-US" sz="2800" dirty="0">
                <a:latin typeface="Bahnschrift SemiBold Condensed" panose="020B0502040204020203" pitchFamily="34" charset="0"/>
              </a:rPr>
              <a:t>There are no products are out of stock. Means all products are available.</a:t>
            </a:r>
          </a:p>
          <a:p>
            <a:pPr marL="285750" indent="-285750">
              <a:buFont typeface="Wingdings" panose="05000000000000000000" pitchFamily="2" charset="2"/>
              <a:buChar char="v"/>
            </a:pPr>
            <a:r>
              <a:rPr lang="en-US" sz="2800" dirty="0">
                <a:latin typeface="Bahnschrift SemiBold Condensed" panose="020B0502040204020203" pitchFamily="34" charset="0"/>
              </a:rPr>
              <a:t>There are five customers who spent  highest money between 300000 – 500000.</a:t>
            </a:r>
          </a:p>
          <a:p>
            <a:pPr marL="285750" indent="-285750">
              <a:buFont typeface="Wingdings" panose="05000000000000000000" pitchFamily="2" charset="2"/>
              <a:buChar char="v"/>
            </a:pPr>
            <a:r>
              <a:rPr lang="en-US" sz="2800" dirty="0">
                <a:latin typeface="Bahnschrift SemiBold Condensed" panose="020B0502040204020203" pitchFamily="34" charset="0"/>
              </a:rPr>
              <a:t>There high sold product category is Electronics product and then Clothing products.</a:t>
            </a:r>
          </a:p>
          <a:p>
            <a:pPr marL="285750" indent="-285750">
              <a:buFont typeface="Wingdings" panose="05000000000000000000" pitchFamily="2" charset="2"/>
              <a:buChar char="v"/>
            </a:pPr>
            <a:r>
              <a:rPr lang="en-US" sz="2800" dirty="0">
                <a:latin typeface="Bahnschrift SemiBold Condensed" panose="020B0502040204020203" pitchFamily="34" charset="0"/>
              </a:rPr>
              <a:t>Friday, Wednesday and Monday are the highest order placed per day.</a:t>
            </a:r>
          </a:p>
          <a:p>
            <a:pPr marL="285750" indent="-285750">
              <a:buFont typeface="Wingdings" panose="05000000000000000000" pitchFamily="2" charset="2"/>
              <a:buChar char="v"/>
            </a:pPr>
            <a:r>
              <a:rPr lang="en-US" sz="2800" dirty="0">
                <a:latin typeface="Bahnschrift SemiBold Condensed" panose="020B0502040204020203" pitchFamily="34" charset="0"/>
              </a:rPr>
              <a:t>There are highest payment received from Debit card and Credit card.</a:t>
            </a:r>
          </a:p>
          <a:p>
            <a:pPr marL="285750" indent="-285750">
              <a:buFont typeface="Wingdings" panose="05000000000000000000" pitchFamily="2" charset="2"/>
              <a:buChar char="v"/>
            </a:pPr>
            <a:r>
              <a:rPr lang="en-US" sz="2800" dirty="0">
                <a:latin typeface="Bahnschrift SemiBold Condensed" panose="020B0502040204020203" pitchFamily="34" charset="0"/>
              </a:rPr>
              <a:t>Customer name Deborah Arias who spent largest transaction.</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IN" dirty="0"/>
          </a:p>
        </p:txBody>
      </p:sp>
      <p:sp>
        <p:nvSpPr>
          <p:cNvPr id="6" name="Scroll: Horizontal 5">
            <a:extLst>
              <a:ext uri="{FF2B5EF4-FFF2-40B4-BE49-F238E27FC236}">
                <a16:creationId xmlns:a16="http://schemas.microsoft.com/office/drawing/2014/main" id="{C0DE9665-235B-4419-BE51-B8CEFA69FC33}"/>
              </a:ext>
            </a:extLst>
          </p:cNvPr>
          <p:cNvSpPr/>
          <p:nvPr/>
        </p:nvSpPr>
        <p:spPr>
          <a:xfrm>
            <a:off x="3753292" y="297711"/>
            <a:ext cx="4157331" cy="1286540"/>
          </a:xfrm>
          <a:prstGeom prst="horizontalScroll">
            <a:avLst>
              <a:gd name="adj" fmla="val 19112"/>
            </a:avLst>
          </a:prstGeom>
          <a:solidFill>
            <a:schemeClr val="accent4">
              <a:alpha val="50000"/>
            </a:schemeClr>
          </a:solidFill>
          <a:ln w="19050">
            <a:solidFill>
              <a:srgbClr val="EE0000"/>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400" b="1" dirty="0">
                <a:latin typeface="Algerian" panose="04020705040A02060702" pitchFamily="82" charset="0"/>
              </a:rPr>
              <a:t>SUMMARY</a:t>
            </a:r>
            <a:endParaRPr lang="en-IN" sz="4400" b="1" dirty="0">
              <a:latin typeface="Algerian" panose="04020705040A02060702" pitchFamily="82" charset="0"/>
            </a:endParaRPr>
          </a:p>
        </p:txBody>
      </p:sp>
    </p:spTree>
    <p:extLst>
      <p:ext uri="{BB962C8B-B14F-4D97-AF65-F5344CB8AC3E}">
        <p14:creationId xmlns:p14="http://schemas.microsoft.com/office/powerpoint/2010/main" val="3515401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466</TotalTime>
  <Words>775</Words>
  <Application>Microsoft Office PowerPoint</Application>
  <PresentationFormat>Widescreen</PresentationFormat>
  <Paragraphs>191</Paragraphs>
  <Slides>19</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19</vt:i4>
      </vt:variant>
    </vt:vector>
  </HeadingPairs>
  <TitlesOfParts>
    <vt:vector size="39" baseType="lpstr">
      <vt:lpstr>Agency FB</vt:lpstr>
      <vt:lpstr>Algerian</vt:lpstr>
      <vt:lpstr>Aptos Narrow</vt:lpstr>
      <vt:lpstr>Arial</vt:lpstr>
      <vt:lpstr>Arial Black</vt:lpstr>
      <vt:lpstr>Arial Narrow</vt:lpstr>
      <vt:lpstr>Arial Rounded MT Bold</vt:lpstr>
      <vt:lpstr>Bahnschrift Condensed</vt:lpstr>
      <vt:lpstr>Bahnschrift SemiBold</vt:lpstr>
      <vt:lpstr>Bahnschrift SemiBold Condensed</vt:lpstr>
      <vt:lpstr>Bahnschrift SemiBold SemiConden</vt:lpstr>
      <vt:lpstr>Bahnschrift SemiLight Condensed</vt:lpstr>
      <vt:lpstr>Bell MT</vt:lpstr>
      <vt:lpstr>Bodoni MT Black</vt:lpstr>
      <vt:lpstr>Britannic Bold</vt:lpstr>
      <vt:lpstr>Calibri</vt:lpstr>
      <vt:lpstr>Calibri Light</vt:lpstr>
      <vt:lpstr>Forte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 sekhar Roy</dc:creator>
  <cp:lastModifiedBy>Raj sekhar Roy</cp:lastModifiedBy>
  <cp:revision>31</cp:revision>
  <dcterms:created xsi:type="dcterms:W3CDTF">2026-01-28T14:48:56Z</dcterms:created>
  <dcterms:modified xsi:type="dcterms:W3CDTF">2026-01-30T14:03:50Z</dcterms:modified>
</cp:coreProperties>
</file>